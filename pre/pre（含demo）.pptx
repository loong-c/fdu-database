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31"/>
  </p:notesMasterIdLst>
  <p:handoutMasterIdLst>
    <p:handoutMasterId r:id="rId32"/>
  </p:handoutMasterIdLst>
  <p:sldIdLst>
    <p:sldId id="256" r:id="rId5"/>
    <p:sldId id="257" r:id="rId6"/>
    <p:sldId id="270" r:id="rId7"/>
    <p:sldId id="258" r:id="rId8"/>
    <p:sldId id="271" r:id="rId9"/>
    <p:sldId id="259" r:id="rId10"/>
    <p:sldId id="266" r:id="rId11"/>
    <p:sldId id="267" r:id="rId12"/>
    <p:sldId id="269" r:id="rId13"/>
    <p:sldId id="265" r:id="rId14"/>
    <p:sldId id="273" r:id="rId15"/>
    <p:sldId id="272" r:id="rId16"/>
    <p:sldId id="260" r:id="rId17"/>
    <p:sldId id="286" r:id="rId18"/>
    <p:sldId id="287" r:id="rId19"/>
    <p:sldId id="288" r:id="rId20"/>
    <p:sldId id="275" r:id="rId21"/>
    <p:sldId id="279" r:id="rId22"/>
    <p:sldId id="276" r:id="rId23"/>
    <p:sldId id="274" r:id="rId24"/>
    <p:sldId id="280" r:id="rId25"/>
    <p:sldId id="282" r:id="rId26"/>
    <p:sldId id="283" r:id="rId27"/>
    <p:sldId id="284" r:id="rId28"/>
    <p:sldId id="285" r:id="rId29"/>
    <p:sldId id="281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6" Type="http://schemas.openxmlformats.org/officeDocument/2006/relationships/commentAuthors" Target="commentAuthors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notesMaster" Target="notesMasters/notesMaster1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image" Target="../media/image1.png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image" Target="../media/image2.jpeg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image" Target="../media/image3.png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image" Target="../media/image4.jpeg"/><Relationship Id="rId2" Type="http://schemas.openxmlformats.org/officeDocument/2006/relationships/tags" Target="../tags/tag11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image" Target="../media/image1.png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37.xml"/><Relationship Id="rId8" Type="http://schemas.openxmlformats.org/officeDocument/2006/relationships/tags" Target="../tags/tag136.xml"/><Relationship Id="rId7" Type="http://schemas.openxmlformats.org/officeDocument/2006/relationships/tags" Target="../tags/tag135.xml"/><Relationship Id="rId6" Type="http://schemas.openxmlformats.org/officeDocument/2006/relationships/tags" Target="../tags/tag134.xml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image" Target="../media/image1.png"/><Relationship Id="rId2" Type="http://schemas.openxmlformats.org/officeDocument/2006/relationships/tags" Target="../tags/tag131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tags" Target="../tags/tag147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image" Target="../media/image2.jpeg"/><Relationship Id="rId2" Type="http://schemas.openxmlformats.org/officeDocument/2006/relationships/tags" Target="../tags/tag143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image" Target="../media/image3.png"/><Relationship Id="rId2" Type="http://schemas.openxmlformats.org/officeDocument/2006/relationships/tags" Target="../tags/tag148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67.xml"/><Relationship Id="rId8" Type="http://schemas.openxmlformats.org/officeDocument/2006/relationships/tags" Target="../tags/tag166.xml"/><Relationship Id="rId7" Type="http://schemas.openxmlformats.org/officeDocument/2006/relationships/tags" Target="../tags/tag165.xml"/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171.xml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78.xml"/><Relationship Id="rId4" Type="http://schemas.openxmlformats.org/officeDocument/2006/relationships/tags" Target="../tags/tag177.xml"/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184.xml"/><Relationship Id="rId7" Type="http://schemas.openxmlformats.org/officeDocument/2006/relationships/tags" Target="../tags/tag183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image" Target="../media/image4.jpeg"/><Relationship Id="rId2" Type="http://schemas.openxmlformats.org/officeDocument/2006/relationships/tags" Target="../tags/tag179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190.xml"/><Relationship Id="rId7" Type="http://schemas.openxmlformats.org/officeDocument/2006/relationships/tags" Target="../tags/tag189.xml"/><Relationship Id="rId6" Type="http://schemas.openxmlformats.org/officeDocument/2006/relationships/tags" Target="../tags/tag188.xml"/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3" Type="http://schemas.openxmlformats.org/officeDocument/2006/relationships/image" Target="../media/image1.png"/><Relationship Id="rId2" Type="http://schemas.openxmlformats.org/officeDocument/2006/relationships/tags" Target="../tags/tag185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组-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 flipH="1">
            <a:off x="-12700" y="635"/>
            <a:ext cx="12204700" cy="6870065"/>
          </a:xfrm>
          <a:prstGeom prst="rect">
            <a:avLst/>
          </a:prstGeom>
        </p:spPr>
      </p:pic>
      <p:sp>
        <p:nvSpPr>
          <p:cNvPr id="9" name="副标题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809624" y="2974340"/>
            <a:ext cx="7553325" cy="499110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dirty="0">
                <a:sym typeface="+mn-ea"/>
              </a:rPr>
              <a:t>单击编辑副标题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5"/>
            </p:custDataLst>
          </p:nvPr>
        </p:nvSpPr>
        <p:spPr>
          <a:xfrm>
            <a:off x="810260" y="2022475"/>
            <a:ext cx="7553325" cy="997585"/>
          </a:xfrm>
          <a:prstGeom prst="rect">
            <a:avLst/>
          </a:prstGeom>
          <a:noFill/>
        </p:spPr>
        <p:txBody>
          <a:bodyPr wrap="square" lIns="91440" tIns="0" rIns="9144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zh-CN" altLang="en-US" sz="66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901065" y="3779520"/>
            <a:ext cx="1831340" cy="49085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70000">
                <a:schemeClr val="accent1"/>
              </a:gs>
            </a:gsLst>
            <a:lin ang="5400000" scaled="0"/>
          </a:gradFill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 dirty="0">
                <a:sym typeface="+mn-ea"/>
              </a:rPr>
              <a:t>署名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239981"/>
            <a:ext cx="10800000" cy="5009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sym typeface="+mn-ea"/>
              </a:defRPr>
            </a:lvl1pPr>
            <a:lvl2pPr>
              <a:defRPr lang="zh-CN" altLang="en-US" dirty="0">
                <a:sym typeface="+mn-ea"/>
              </a:defRPr>
            </a:lvl2pPr>
            <a:lvl3pPr>
              <a:defRPr lang="zh-CN" altLang="en-US" dirty="0">
                <a:sym typeface="+mn-ea"/>
              </a:defRPr>
            </a:lvl3pPr>
            <a:lvl4pPr>
              <a:defRPr lang="zh-CN" altLang="en-US" dirty="0">
                <a:sym typeface="+mn-ea"/>
              </a:defRPr>
            </a:lvl4pPr>
            <a:lvl5pPr>
              <a:defRPr lang="zh-CN" altLang="en-US" dirty="0">
                <a:sym typeface="+mn-ea"/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图片 46" descr="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817245" y="345364"/>
            <a:ext cx="1860550" cy="94043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effectLst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indent="0" algn="l" fontAlgn="auto">
              <a:lnSpc>
                <a:spcPct val="100000"/>
              </a:lnSpc>
              <a:spcAft>
                <a:spcPts val="1200"/>
              </a:spcAft>
              <a:buClrTx/>
              <a:buSzTx/>
              <a:buFontTx/>
            </a:pPr>
            <a:r>
              <a:rPr>
                <a:sym typeface="+mn-ea"/>
              </a:rPr>
              <a:t>标题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xiezuo20230421-20485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860425" y="1739900"/>
            <a:ext cx="4920615" cy="168529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15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  <a:tileRect t="-100000" r="-10000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 fontAlgn="ctr">
              <a:lnSpc>
                <a:spcPct val="100000"/>
              </a:lnSpc>
              <a:buClrTx/>
              <a:buSzTx/>
              <a:buFontTx/>
            </a:pPr>
            <a:r>
              <a:rPr>
                <a:sym typeface="+mn-ea"/>
              </a:rPr>
              <a:t>编号</a:t>
            </a:r>
            <a:endParaRPr>
              <a:sym typeface="+mn-ea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860425" y="3432175"/>
            <a:ext cx="4919980" cy="170751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0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文"/>
          <p:cNvSpPr txBox="1">
            <a:spLocks noGrp="1"/>
          </p:cNvSpPr>
          <p:nvPr>
            <p:ph idx="2"/>
            <p:custDataLst>
              <p:tags r:id="rId2"/>
            </p:custDataLst>
          </p:nvPr>
        </p:nvSpPr>
        <p:spPr>
          <a:xfrm>
            <a:off x="6400800" y="1267690"/>
            <a:ext cx="5095240" cy="4981979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1267690"/>
            <a:ext cx="5088890" cy="4981979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  <a:noFill/>
        </p:spPr>
        <p:txBody>
          <a:bodyPr wrap="square" lIns="107950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3"/>
            </p:custDataLst>
          </p:nvPr>
        </p:nvSpPr>
        <p:spPr>
          <a:xfrm>
            <a:off x="6235065" y="1875183"/>
            <a:ext cx="5259735" cy="4374488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4"/>
            </p:custDataLst>
          </p:nvPr>
        </p:nvSpPr>
        <p:spPr>
          <a:xfrm>
            <a:off x="6235065" y="1144730"/>
            <a:ext cx="5262135" cy="59245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1" name="正文"/>
          <p:cNvSpPr txBox="1">
            <a:spLocks noGrp="1"/>
          </p:cNvSpPr>
          <p:nvPr>
            <p:ph idx="2"/>
            <p:custDataLst>
              <p:tags r:id="rId5"/>
            </p:custDataLst>
          </p:nvPr>
        </p:nvSpPr>
        <p:spPr>
          <a:xfrm>
            <a:off x="697200" y="1875183"/>
            <a:ext cx="5253385" cy="4374488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6"/>
            </p:custDataLst>
          </p:nvPr>
        </p:nvSpPr>
        <p:spPr>
          <a:xfrm>
            <a:off x="694800" y="1144730"/>
            <a:ext cx="5255785" cy="59245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rgbClr val="000000"/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rgbClr val="000000"/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rgbClr val="000000"/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rgbClr val="000000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rgbClr val="000000"/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 algn="l"/>
            <a:r>
              <a:rPr dirty="0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组-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副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4982845" y="2521585"/>
            <a:ext cx="6259830" cy="89281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altLang="zh-CN" sz="6665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9411335" y="3743960"/>
            <a:ext cx="1831340" cy="49085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70000">
                <a:schemeClr val="accent1"/>
              </a:gs>
            </a:gsLst>
            <a:lin ang="5400000" scaled="0"/>
          </a:gradFill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 dirty="0">
                <a:sym typeface="+mn-ea"/>
              </a:rPr>
              <a:t>署名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组-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 flipH="1">
            <a:off x="-12700" y="635"/>
            <a:ext cx="12204700" cy="6870065"/>
          </a:xfrm>
          <a:prstGeom prst="rect">
            <a:avLst/>
          </a:prstGeom>
        </p:spPr>
      </p:pic>
      <p:sp>
        <p:nvSpPr>
          <p:cNvPr id="9" name="副标题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809624" y="2974340"/>
            <a:ext cx="7553325" cy="499110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dirty="0">
                <a:sym typeface="+mn-ea"/>
              </a:rPr>
              <a:t>单击编辑副标题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5"/>
            </p:custDataLst>
          </p:nvPr>
        </p:nvSpPr>
        <p:spPr>
          <a:xfrm>
            <a:off x="810260" y="2022475"/>
            <a:ext cx="7553325" cy="997585"/>
          </a:xfrm>
          <a:prstGeom prst="rect">
            <a:avLst/>
          </a:prstGeom>
          <a:noFill/>
        </p:spPr>
        <p:txBody>
          <a:bodyPr wrap="square" lIns="91440" tIns="0" rIns="9144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zh-CN" altLang="en-US" sz="66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901065" y="3779520"/>
            <a:ext cx="1831340" cy="49085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70000">
                <a:schemeClr val="accent1"/>
              </a:gs>
            </a:gsLst>
            <a:lin ang="5400000" scaled="0"/>
          </a:gradFill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 dirty="0">
                <a:sym typeface="+mn-ea"/>
              </a:rPr>
              <a:t>署名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239981"/>
            <a:ext cx="10800000" cy="5009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sym typeface="+mn-ea"/>
              </a:defRPr>
            </a:lvl1pPr>
            <a:lvl2pPr>
              <a:defRPr lang="zh-CN" altLang="en-US" dirty="0">
                <a:sym typeface="+mn-ea"/>
              </a:defRPr>
            </a:lvl2pPr>
            <a:lvl3pPr>
              <a:defRPr lang="zh-CN" altLang="en-US" dirty="0">
                <a:sym typeface="+mn-ea"/>
              </a:defRPr>
            </a:lvl3pPr>
            <a:lvl4pPr>
              <a:defRPr lang="zh-CN" altLang="en-US" dirty="0">
                <a:sym typeface="+mn-ea"/>
              </a:defRPr>
            </a:lvl4pPr>
            <a:lvl5pPr>
              <a:defRPr lang="zh-CN" altLang="en-US" dirty="0">
                <a:sym typeface="+mn-ea"/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图片 46" descr="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817245" y="345364"/>
            <a:ext cx="1860550" cy="94043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effectLst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indent="0" algn="l" fontAlgn="auto">
              <a:lnSpc>
                <a:spcPct val="100000"/>
              </a:lnSpc>
              <a:spcAft>
                <a:spcPts val="1200"/>
              </a:spcAft>
              <a:buClrTx/>
              <a:buSzTx/>
              <a:buFontTx/>
            </a:pPr>
            <a:r>
              <a:rPr>
                <a:sym typeface="+mn-ea"/>
              </a:rPr>
              <a:t>标题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xiezuo20230421-20485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860425" y="1739900"/>
            <a:ext cx="4920615" cy="168529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15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  <a:tileRect t="-100000" r="-10000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 fontAlgn="ctr">
              <a:lnSpc>
                <a:spcPct val="100000"/>
              </a:lnSpc>
              <a:buClrTx/>
              <a:buSzTx/>
              <a:buFontTx/>
            </a:pPr>
            <a:r>
              <a:rPr>
                <a:sym typeface="+mn-ea"/>
              </a:rPr>
              <a:t>编号</a:t>
            </a:r>
            <a:endParaRPr>
              <a:sym typeface="+mn-ea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860425" y="3432175"/>
            <a:ext cx="4919980" cy="170751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0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文"/>
          <p:cNvSpPr txBox="1">
            <a:spLocks noGrp="1"/>
          </p:cNvSpPr>
          <p:nvPr>
            <p:ph idx="2"/>
            <p:custDataLst>
              <p:tags r:id="rId2"/>
            </p:custDataLst>
          </p:nvPr>
        </p:nvSpPr>
        <p:spPr>
          <a:xfrm>
            <a:off x="6400800" y="1267690"/>
            <a:ext cx="5095240" cy="4981979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1267690"/>
            <a:ext cx="5088890" cy="4981979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  <a:noFill/>
        </p:spPr>
        <p:txBody>
          <a:bodyPr wrap="square" lIns="107950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3"/>
            </p:custDataLst>
          </p:nvPr>
        </p:nvSpPr>
        <p:spPr>
          <a:xfrm>
            <a:off x="6235065" y="1875183"/>
            <a:ext cx="5259735" cy="4374488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4"/>
            </p:custDataLst>
          </p:nvPr>
        </p:nvSpPr>
        <p:spPr>
          <a:xfrm>
            <a:off x="6235065" y="1144730"/>
            <a:ext cx="5262135" cy="59245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1" name="正文"/>
          <p:cNvSpPr txBox="1">
            <a:spLocks noGrp="1"/>
          </p:cNvSpPr>
          <p:nvPr>
            <p:ph idx="2"/>
            <p:custDataLst>
              <p:tags r:id="rId5"/>
            </p:custDataLst>
          </p:nvPr>
        </p:nvSpPr>
        <p:spPr>
          <a:xfrm>
            <a:off x="697200" y="1875183"/>
            <a:ext cx="5253385" cy="4374488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6"/>
            </p:custDataLst>
          </p:nvPr>
        </p:nvSpPr>
        <p:spPr>
          <a:xfrm>
            <a:off x="694800" y="1144730"/>
            <a:ext cx="5255785" cy="59245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rgbClr val="000000"/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rgbClr val="000000"/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rgbClr val="000000"/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rgbClr val="000000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rgbClr val="000000"/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 algn="l"/>
            <a:r>
              <a:rPr dirty="0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组-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副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4982845" y="2521585"/>
            <a:ext cx="6259830" cy="89281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altLang="zh-CN" sz="6665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9411335" y="3743960"/>
            <a:ext cx="1831340" cy="49085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70000">
                <a:schemeClr val="accent1"/>
              </a:gs>
            </a:gsLst>
            <a:lin ang="5400000" scaled="0"/>
          </a:gradFill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 dirty="0">
                <a:sym typeface="+mn-ea"/>
              </a:rPr>
              <a:t>署名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130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29.xml"/><Relationship Id="rId18" Type="http://schemas.openxmlformats.org/officeDocument/2006/relationships/tags" Target="../tags/tag128.xml"/><Relationship Id="rId17" Type="http://schemas.openxmlformats.org/officeDocument/2006/relationships/tags" Target="../tags/tag127.xml"/><Relationship Id="rId16" Type="http://schemas.openxmlformats.org/officeDocument/2006/relationships/tags" Target="../tags/tag126.xml"/><Relationship Id="rId15" Type="http://schemas.openxmlformats.org/officeDocument/2006/relationships/tags" Target="../tags/tag125.xml"/><Relationship Id="rId14" Type="http://schemas.openxmlformats.org/officeDocument/2006/relationships/tags" Target="../tags/tag124.xml"/><Relationship Id="rId13" Type="http://schemas.openxmlformats.org/officeDocument/2006/relationships/image" Target="../media/image4.jpeg"/><Relationship Id="rId12" Type="http://schemas.openxmlformats.org/officeDocument/2006/relationships/tags" Target="../tags/tag1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1" Type="http://schemas.openxmlformats.org/officeDocument/2006/relationships/theme" Target="../theme/theme3.xml"/><Relationship Id="rId20" Type="http://schemas.openxmlformats.org/officeDocument/2006/relationships/tags" Target="../tags/tag198.xml"/><Relationship Id="rId2" Type="http://schemas.openxmlformats.org/officeDocument/2006/relationships/slideLayout" Target="../slideLayouts/slideLayout24.xml"/><Relationship Id="rId19" Type="http://schemas.openxmlformats.org/officeDocument/2006/relationships/tags" Target="../tags/tag197.xml"/><Relationship Id="rId18" Type="http://schemas.openxmlformats.org/officeDocument/2006/relationships/tags" Target="../tags/tag196.xml"/><Relationship Id="rId17" Type="http://schemas.openxmlformats.org/officeDocument/2006/relationships/tags" Target="../tags/tag195.xml"/><Relationship Id="rId16" Type="http://schemas.openxmlformats.org/officeDocument/2006/relationships/tags" Target="../tags/tag194.xml"/><Relationship Id="rId15" Type="http://schemas.openxmlformats.org/officeDocument/2006/relationships/tags" Target="../tags/tag193.xml"/><Relationship Id="rId14" Type="http://schemas.openxmlformats.org/officeDocument/2006/relationships/tags" Target="../tags/tag192.xml"/><Relationship Id="rId13" Type="http://schemas.openxmlformats.org/officeDocument/2006/relationships/image" Target="../media/image4.jpeg"/><Relationship Id="rId12" Type="http://schemas.openxmlformats.org/officeDocument/2006/relationships/tags" Target="../tags/tag191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4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cs typeface="MiSans Normal" panose="00000500000000000000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MiSans Normal" panose="000005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cs typeface="MiSans Normal" panose="000005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107950" tIns="0" rIns="91440" bIns="0" rtlCol="0" anchor="b" anchorCtr="0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0" normalizeH="0" baseline="0" dirty="0" smtClean="0"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uFillTx/>
          <a:latin typeface="+mj-ea"/>
          <a:ea typeface="+mj-ea"/>
          <a:cs typeface="MiSans Normal" panose="0000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kumimoji="0" lang="zh-CN" altLang="en-US" sz="1800" b="0" i="0" u="none" strike="noStrike" kern="1200" cap="none" spc="150" normalizeH="0" baseline="0">
          <a:ln>
            <a:noFill/>
            <a:prstDash val="sysDot"/>
          </a:ln>
          <a:solidFill>
            <a:srgbClr val="000000"/>
          </a:solidFill>
          <a:uFillTx/>
          <a:latin typeface="微软雅黑" charset="-122"/>
          <a:ea typeface="微软雅黑" charset="-122"/>
          <a:cs typeface="MiSans Normal" panose="0000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</a:tabLst>
        <a:defRPr kumimoji="0" lang="zh-CN" altLang="en-US" sz="1600" b="0" i="0" u="none" strike="noStrike" kern="1200" cap="none" spc="150" normalizeH="0" baseline="0">
          <a:solidFill>
            <a:srgbClr val="000000"/>
          </a:solidFill>
          <a:uFillTx/>
          <a:latin typeface="微软雅黑" charset="-122"/>
          <a:ea typeface="微软雅黑" charset="-122"/>
          <a:cs typeface="MiSans Normal" panose="0000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kumimoji="0" lang="zh-CN" altLang="en-US" sz="1600" b="0" i="0" u="none" strike="noStrike" kern="1200" cap="none" spc="150" normalizeH="0" baseline="0">
          <a:solidFill>
            <a:srgbClr val="000000"/>
          </a:solidFill>
          <a:uFillTx/>
          <a:latin typeface="微软雅黑" charset="-122"/>
          <a:ea typeface="微软雅黑" charset="-122"/>
          <a:cs typeface="MiSans Normal" panose="0000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600" b="0" i="0" u="none" strike="noStrike" kern="1200" cap="none" spc="150" normalizeH="0" baseline="0">
          <a:solidFill>
            <a:srgbClr val="000000"/>
          </a:solidFill>
          <a:uFillTx/>
          <a:latin typeface="微软雅黑" charset="-122"/>
          <a:ea typeface="微软雅黑" charset="-122"/>
          <a:cs typeface="MiSans Normal" panose="0000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kumimoji="0" lang="zh-CN" altLang="en-US" sz="1600" b="0" i="0" u="none" strike="noStrike" kern="1200" cap="none" spc="150" normalizeH="0" baseline="0">
          <a:solidFill>
            <a:srgbClr val="000000"/>
          </a:solidFill>
          <a:uFillTx/>
          <a:latin typeface="微软雅黑" charset="-122"/>
          <a:ea typeface="微软雅黑" charset="-122"/>
          <a:cs typeface="MiSans Normal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4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cs typeface="MiSans Normal" panose="00000500000000000000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MiSans Normal" panose="000005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cs typeface="MiSans Normal" panose="000005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107950" tIns="0" rIns="91440" bIns="0" rtlCol="0" anchor="b" anchorCtr="0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0" normalizeH="0" baseline="0" dirty="0" smtClean="0"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uFillTx/>
          <a:latin typeface="+mj-ea"/>
          <a:ea typeface="+mj-ea"/>
          <a:cs typeface="MiSans Normal" panose="0000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kumimoji="0" lang="zh-CN" altLang="en-US" sz="1800" b="0" i="0" u="none" strike="noStrike" kern="1200" cap="none" spc="150" normalizeH="0" baseline="0">
          <a:ln>
            <a:noFill/>
            <a:prstDash val="sysDot"/>
          </a:ln>
          <a:solidFill>
            <a:srgbClr val="000000"/>
          </a:solidFill>
          <a:uFillTx/>
          <a:latin typeface="微软雅黑" charset="-122"/>
          <a:ea typeface="微软雅黑" charset="-122"/>
          <a:cs typeface="MiSans Normal" panose="0000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</a:tabLst>
        <a:defRPr kumimoji="0" lang="zh-CN" altLang="en-US" sz="1600" b="0" i="0" u="none" strike="noStrike" kern="1200" cap="none" spc="150" normalizeH="0" baseline="0">
          <a:solidFill>
            <a:srgbClr val="000000"/>
          </a:solidFill>
          <a:uFillTx/>
          <a:latin typeface="微软雅黑" charset="-122"/>
          <a:ea typeface="微软雅黑" charset="-122"/>
          <a:cs typeface="MiSans Normal" panose="0000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kumimoji="0" lang="zh-CN" altLang="en-US" sz="1600" b="0" i="0" u="none" strike="noStrike" kern="1200" cap="none" spc="150" normalizeH="0" baseline="0">
          <a:solidFill>
            <a:srgbClr val="000000"/>
          </a:solidFill>
          <a:uFillTx/>
          <a:latin typeface="微软雅黑" charset="-122"/>
          <a:ea typeface="微软雅黑" charset="-122"/>
          <a:cs typeface="MiSans Normal" panose="0000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600" b="0" i="0" u="none" strike="noStrike" kern="1200" cap="none" spc="150" normalizeH="0" baseline="0">
          <a:solidFill>
            <a:srgbClr val="000000"/>
          </a:solidFill>
          <a:uFillTx/>
          <a:latin typeface="微软雅黑" charset="-122"/>
          <a:ea typeface="微软雅黑" charset="-122"/>
          <a:cs typeface="MiSans Normal" panose="0000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kumimoji="0" lang="zh-CN" altLang="en-US" sz="1600" b="0" i="0" u="none" strike="noStrike" kern="1200" cap="none" spc="150" normalizeH="0" baseline="0">
          <a:solidFill>
            <a:srgbClr val="000000"/>
          </a:solidFill>
          <a:uFillTx/>
          <a:latin typeface="微软雅黑" charset="-122"/>
          <a:ea typeface="微软雅黑" charset="-122"/>
          <a:cs typeface="MiSans Normal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202.xml"/><Relationship Id="rId3" Type="http://schemas.openxmlformats.org/officeDocument/2006/relationships/tags" Target="../tags/tag201.xml"/><Relationship Id="rId2" Type="http://schemas.openxmlformats.org/officeDocument/2006/relationships/tags" Target="../tags/tag200.xml"/><Relationship Id="rId1" Type="http://schemas.openxmlformats.org/officeDocument/2006/relationships/tags" Target="../tags/tag199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11.xml"/><Relationship Id="rId8" Type="http://schemas.openxmlformats.org/officeDocument/2006/relationships/tags" Target="../tags/tag210.xml"/><Relationship Id="rId7" Type="http://schemas.openxmlformats.org/officeDocument/2006/relationships/tags" Target="../tags/tag209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Relationship Id="rId3" Type="http://schemas.openxmlformats.org/officeDocument/2006/relationships/tags" Target="../tags/tag205.xml"/><Relationship Id="rId22" Type="http://schemas.openxmlformats.org/officeDocument/2006/relationships/slideLayout" Target="../slideLayouts/slideLayout14.xml"/><Relationship Id="rId21" Type="http://schemas.openxmlformats.org/officeDocument/2006/relationships/tags" Target="../tags/tag223.xml"/><Relationship Id="rId20" Type="http://schemas.openxmlformats.org/officeDocument/2006/relationships/tags" Target="../tags/tag222.xml"/><Relationship Id="rId2" Type="http://schemas.openxmlformats.org/officeDocument/2006/relationships/tags" Target="../tags/tag204.xml"/><Relationship Id="rId19" Type="http://schemas.openxmlformats.org/officeDocument/2006/relationships/tags" Target="../tags/tag221.xml"/><Relationship Id="rId18" Type="http://schemas.openxmlformats.org/officeDocument/2006/relationships/tags" Target="../tags/tag220.xml"/><Relationship Id="rId17" Type="http://schemas.openxmlformats.org/officeDocument/2006/relationships/tags" Target="../tags/tag219.xml"/><Relationship Id="rId16" Type="http://schemas.openxmlformats.org/officeDocument/2006/relationships/tags" Target="../tags/tag218.xml"/><Relationship Id="rId15" Type="http://schemas.openxmlformats.org/officeDocument/2006/relationships/tags" Target="../tags/tag217.xml"/><Relationship Id="rId14" Type="http://schemas.openxmlformats.org/officeDocument/2006/relationships/tags" Target="../tags/tag216.xml"/><Relationship Id="rId13" Type="http://schemas.openxmlformats.org/officeDocument/2006/relationships/tags" Target="../tags/tag215.xml"/><Relationship Id="rId12" Type="http://schemas.openxmlformats.org/officeDocument/2006/relationships/tags" Target="../tags/tag214.xml"/><Relationship Id="rId11" Type="http://schemas.openxmlformats.org/officeDocument/2006/relationships/tags" Target="../tags/tag213.xml"/><Relationship Id="rId10" Type="http://schemas.openxmlformats.org/officeDocument/2006/relationships/tags" Target="../tags/tag212.xml"/><Relationship Id="rId1" Type="http://schemas.openxmlformats.org/officeDocument/2006/relationships/tags" Target="../tags/tag20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26.xml"/><Relationship Id="rId2" Type="http://schemas.openxmlformats.org/officeDocument/2006/relationships/tags" Target="../tags/tag225.xml"/><Relationship Id="rId1" Type="http://schemas.openxmlformats.org/officeDocument/2006/relationships/tags" Target="../tags/tag22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" Type="http://schemas.openxmlformats.org/officeDocument/2006/relationships/tags" Target="../tags/tag22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32.xml"/><Relationship Id="rId2" Type="http://schemas.openxmlformats.org/officeDocument/2006/relationships/tags" Target="../tags/tag231.xml"/><Relationship Id="rId1" Type="http://schemas.openxmlformats.org/officeDocument/2006/relationships/tags" Target="../tags/tag230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236.xml"/><Relationship Id="rId3" Type="http://schemas.openxmlformats.org/officeDocument/2006/relationships/tags" Target="../tags/tag235.xml"/><Relationship Id="rId2" Type="http://schemas.openxmlformats.org/officeDocument/2006/relationships/tags" Target="../tags/tag234.xml"/><Relationship Id="rId1" Type="http://schemas.openxmlformats.org/officeDocument/2006/relationships/tags" Target="../tags/tag23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" Type="http://schemas.openxmlformats.org/officeDocument/2006/relationships/tags" Target="../tags/tag2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40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43.xml"/><Relationship Id="rId2" Type="http://schemas.openxmlformats.org/officeDocument/2006/relationships/tags" Target="../tags/tag242.xml"/><Relationship Id="rId1" Type="http://schemas.openxmlformats.org/officeDocument/2006/relationships/tags" Target="../tags/tag24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4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46.xml"/><Relationship Id="rId1" Type="http://schemas.openxmlformats.org/officeDocument/2006/relationships/tags" Target="../tags/tag245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49.xml"/><Relationship Id="rId2" Type="http://schemas.openxmlformats.org/officeDocument/2006/relationships/tags" Target="../tags/tag248.xml"/><Relationship Id="rId1" Type="http://schemas.openxmlformats.org/officeDocument/2006/relationships/tags" Target="../tags/tag24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51.xml"/><Relationship Id="rId2" Type="http://schemas.openxmlformats.org/officeDocument/2006/relationships/image" Target="../media/image5.png"/><Relationship Id="rId1" Type="http://schemas.openxmlformats.org/officeDocument/2006/relationships/tags" Target="../tags/tag25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52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53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54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57.xml"/><Relationship Id="rId2" Type="http://schemas.openxmlformats.org/officeDocument/2006/relationships/tags" Target="../tags/tag256.xml"/><Relationship Id="rId1" Type="http://schemas.openxmlformats.org/officeDocument/2006/relationships/tags" Target="../tags/tag25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58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61.xml"/><Relationship Id="rId2" Type="http://schemas.openxmlformats.org/officeDocument/2006/relationships/tags" Target="../tags/tag260.xml"/><Relationship Id="rId1" Type="http://schemas.openxmlformats.org/officeDocument/2006/relationships/tags" Target="../tags/tag259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262.xml"/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63.xml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64.xml"/><Relationship Id="rId1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65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66.xml"/><Relationship Id="rId2" Type="http://schemas.openxmlformats.org/officeDocument/2006/relationships/image" Target="../media/image10.png"/><Relationship Id="rId1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67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tags" Target="../tags/tag269.xml"/><Relationship Id="rId1" Type="http://schemas.openxmlformats.org/officeDocument/2006/relationships/tags" Target="../tags/tag2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占位符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867650" y="4287520"/>
            <a:ext cx="1831340" cy="490855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wrap="square" lIns="91440" tIns="0" rIns="91440" bIns="0" rtlCol="0" anchor="ctr" anchorCtr="0">
            <a:normAutofit/>
          </a:bodyPr>
          <a:lstStyle>
            <a:lvl1pPr marL="0" marR="0" lvl="0" indent="-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14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</a:tabLst>
              <a:defRPr kumimoji="0" lang="zh-CN" altLang="en-US" sz="1600" b="0" i="0" u="none" strike="noStrike" kern="1200" cap="none" spc="150" normalizeH="0" baseline="0">
                <a:solidFill>
                  <a:srgbClr val="000000"/>
                </a:solidFill>
                <a:uFillTx/>
                <a:latin typeface="微软雅黑" charset="-122"/>
                <a:ea typeface="微软雅黑" charset="-122"/>
                <a:cs typeface="MiSans Normal" panose="00000500000000000000" charset="-122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>
                <a:solidFill>
                  <a:srgbClr val="000000"/>
                </a:solidFill>
                <a:uFillTx/>
                <a:latin typeface="微软雅黑" charset="-122"/>
                <a:ea typeface="微软雅黑" charset="-122"/>
                <a:cs typeface="MiSans Normal" panose="00000500000000000000" charset="-122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600" b="0" i="0" u="none" strike="noStrike" kern="1200" cap="none" spc="150" normalizeH="0" baseline="0">
                <a:solidFill>
                  <a:srgbClr val="000000"/>
                </a:solidFill>
                <a:uFillTx/>
                <a:latin typeface="微软雅黑" charset="-122"/>
                <a:ea typeface="微软雅黑" charset="-122"/>
                <a:cs typeface="MiSans Normal" panose="00000500000000000000" charset="-122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>
                <a:solidFill>
                  <a:srgbClr val="000000"/>
                </a:solidFill>
                <a:uFillTx/>
                <a:latin typeface="微软雅黑" charset="-122"/>
                <a:ea typeface="微软雅黑" charset="-122"/>
                <a:cs typeface="MiSans Normal" panose="00000500000000000000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>
          <a:xfrm>
            <a:off x="8080375" y="4287520"/>
            <a:ext cx="1405890" cy="491490"/>
          </a:xfrm>
        </p:spPr>
        <p:txBody>
          <a:bodyPr/>
          <a:p>
            <a:r>
              <a:rPr lang="en-US" altLang="zh-CN"/>
              <a:t>2026.4</a:t>
            </a:r>
            <a:endParaRPr lang="en-US" altLang="zh-CN"/>
          </a:p>
        </p:txBody>
      </p:sp>
      <p:sp>
        <p:nvSpPr>
          <p:cNvPr id="20" name="标题 19"/>
          <p:cNvSpPr>
            <a:spLocks noGrp="1"/>
          </p:cNvSpPr>
          <p:nvPr>
            <p:ph type="title" idx="2"/>
            <p:custDataLst>
              <p:tags r:id="rId3"/>
            </p:custDataLst>
          </p:nvPr>
        </p:nvSpPr>
        <p:spPr>
          <a:xfrm>
            <a:off x="1770380" y="1830705"/>
            <a:ext cx="8651240" cy="835660"/>
          </a:xfrm>
        </p:spPr>
        <p:txBody>
          <a:bodyPr>
            <a:normAutofit fontScale="90000"/>
          </a:bodyPr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altLang="en-US" sz="6600">
                <a:latin typeface="新宋体" charset="0"/>
                <a:ea typeface="新宋体" charset="0"/>
              </a:rPr>
              <a:t>网上综合书店销售数据库</a:t>
            </a:r>
            <a:endParaRPr altLang="en-US" sz="6600">
              <a:latin typeface="新宋体" charset="0"/>
              <a:ea typeface="新宋体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标题 53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</a:pPr>
            <a:r>
              <a:rPr altLang="en-US" sz="6000"/>
              <a:t>目录</a:t>
            </a:r>
            <a:endParaRPr altLang="en-US" sz="6000"/>
          </a:p>
        </p:txBody>
      </p:sp>
      <p:sp>
        <p:nvSpPr>
          <p:cNvPr id="55" name="矩形: 圆角 4"/>
          <p:cNvSpPr/>
          <p:nvPr>
            <p:custDataLst>
              <p:tags r:id="rId2"/>
            </p:custDataLst>
          </p:nvPr>
        </p:nvSpPr>
        <p:spPr>
          <a:xfrm>
            <a:off x="4197985" y="961390"/>
            <a:ext cx="7268845" cy="606425"/>
          </a:xfrm>
          <a:prstGeom prst="roundRect">
            <a:avLst>
              <a:gd name="adj" fmla="val 13370"/>
            </a:avLst>
          </a:prstGeom>
          <a:solidFill>
            <a:srgbClr val="FFFFFF"/>
          </a:solidFill>
          <a:ln>
            <a:noFill/>
            <a:prstDash val="solid"/>
          </a:ln>
          <a:effectLst>
            <a:outerShdw blurRad="114300" dist="50800" dir="8100000" algn="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>
              <a:cs typeface="MiSans Normal" panose="00000500000000000000" charset="-122"/>
              <a:sym typeface="+mn-ea"/>
            </a:endParaRPr>
          </a:p>
        </p:txBody>
      </p:sp>
      <p:sp>
        <p:nvSpPr>
          <p:cNvPr id="56" name="序号"/>
          <p:cNvSpPr/>
          <p:nvPr>
            <p:custDataLst>
              <p:tags r:id="rId3"/>
            </p:custDataLst>
          </p:nvPr>
        </p:nvSpPr>
        <p:spPr>
          <a:xfrm>
            <a:off x="4519295" y="1043940"/>
            <a:ext cx="441325" cy="441325"/>
          </a:xfrm>
          <a:prstGeom prst="ellipse">
            <a:avLst/>
          </a:prstGeom>
          <a:gradFill flip="none" rotWithShape="1">
            <a:gsLst>
              <a:gs pos="20000">
                <a:schemeClr val="accent1">
                  <a:alpha val="65000"/>
                </a:schemeClr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altLang="zh-CN" sz="1400" dirty="0">
                <a:solidFill>
                  <a:schemeClr val="tx1"/>
                </a:solidFill>
                <a:cs typeface="MiSans Normal" panose="00000500000000000000" charset="-122"/>
                <a:sym typeface="+mn-ea"/>
              </a:rPr>
              <a:t>01</a:t>
            </a:r>
            <a:endParaRPr lang="en-US" altLang="zh-CN" sz="1400" dirty="0">
              <a:solidFill>
                <a:schemeClr val="tx1"/>
              </a:solidFill>
              <a:cs typeface="MiSans Normal" panose="00000500000000000000" charset="-122"/>
              <a:sym typeface="+mn-ea"/>
            </a:endParaRPr>
          </a:p>
        </p:txBody>
      </p:sp>
      <p:sp>
        <p:nvSpPr>
          <p:cNvPr id="57" name="标题"/>
          <p:cNvSpPr txBox="1"/>
          <p:nvPr>
            <p:custDataLst>
              <p:tags r:id="rId4"/>
            </p:custDataLst>
          </p:nvPr>
        </p:nvSpPr>
        <p:spPr>
          <a:xfrm>
            <a:off x="5825490" y="1009650"/>
            <a:ext cx="5094605" cy="51054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 lvl="0" algn="l">
              <a:buClrTx/>
              <a:buSzTx/>
              <a:buFontTx/>
            </a:pPr>
            <a:r>
              <a:rPr lang="zh-CN" altLang="en-US" sz="2400" dirty="0">
                <a:solidFill>
                  <a:schemeClr val="tx1"/>
                </a:solidFill>
                <a:latin typeface="新宋体" charset="0"/>
                <a:ea typeface="新宋体" charset="0"/>
                <a:cs typeface="MiSans Normal" panose="00000500000000000000" charset="-122"/>
                <a:sym typeface="+mn-ea"/>
              </a:rPr>
              <a:t>题目介绍</a:t>
            </a:r>
            <a:endParaRPr lang="zh-CN" altLang="en-US" sz="2400" dirty="0">
              <a:solidFill>
                <a:schemeClr val="tx1"/>
              </a:solidFill>
              <a:latin typeface="新宋体" charset="0"/>
              <a:ea typeface="新宋体" charset="0"/>
              <a:cs typeface="MiSans Normal" panose="00000500000000000000" charset="-122"/>
              <a:sym typeface="+mn-ea"/>
            </a:endParaRPr>
          </a:p>
        </p:txBody>
      </p:sp>
      <p:sp>
        <p:nvSpPr>
          <p:cNvPr id="58" name="矩形: 圆角 4"/>
          <p:cNvSpPr/>
          <p:nvPr>
            <p:custDataLst>
              <p:tags r:id="rId5"/>
            </p:custDataLst>
          </p:nvPr>
        </p:nvSpPr>
        <p:spPr>
          <a:xfrm>
            <a:off x="4197985" y="1828800"/>
            <a:ext cx="7268845" cy="606425"/>
          </a:xfrm>
          <a:prstGeom prst="roundRect">
            <a:avLst>
              <a:gd name="adj" fmla="val 13370"/>
            </a:avLst>
          </a:prstGeom>
          <a:solidFill>
            <a:srgbClr val="FFFFFF"/>
          </a:solidFill>
          <a:ln>
            <a:noFill/>
            <a:prstDash val="solid"/>
          </a:ln>
          <a:effectLst>
            <a:outerShdw blurRad="114300" dist="50800" dir="8100000" algn="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>
              <a:cs typeface="MiSans Normal" panose="00000500000000000000" charset="-122"/>
              <a:sym typeface="+mn-ea"/>
            </a:endParaRPr>
          </a:p>
        </p:txBody>
      </p:sp>
      <p:sp>
        <p:nvSpPr>
          <p:cNvPr id="59" name="序号"/>
          <p:cNvSpPr/>
          <p:nvPr>
            <p:custDataLst>
              <p:tags r:id="rId6"/>
            </p:custDataLst>
          </p:nvPr>
        </p:nvSpPr>
        <p:spPr>
          <a:xfrm>
            <a:off x="4519295" y="1911350"/>
            <a:ext cx="441325" cy="441325"/>
          </a:xfrm>
          <a:prstGeom prst="ellipse">
            <a:avLst/>
          </a:prstGeom>
          <a:gradFill flip="none" rotWithShape="1">
            <a:gsLst>
              <a:gs pos="20000">
                <a:schemeClr val="accent1">
                  <a:alpha val="65000"/>
                </a:schemeClr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altLang="zh-CN" sz="1400" dirty="0">
                <a:solidFill>
                  <a:schemeClr val="tx1"/>
                </a:solidFill>
                <a:cs typeface="MiSans Normal" panose="00000500000000000000" charset="-122"/>
                <a:sym typeface="+mn-ea"/>
              </a:rPr>
              <a:t>02</a:t>
            </a:r>
            <a:endParaRPr lang="en-US" altLang="zh-CN" sz="1400" dirty="0">
              <a:solidFill>
                <a:schemeClr val="tx1"/>
              </a:solidFill>
              <a:cs typeface="MiSans Normal" panose="00000500000000000000" charset="-122"/>
              <a:sym typeface="+mn-ea"/>
            </a:endParaRPr>
          </a:p>
        </p:txBody>
      </p:sp>
      <p:sp>
        <p:nvSpPr>
          <p:cNvPr id="60" name="标题"/>
          <p:cNvSpPr txBox="1"/>
          <p:nvPr>
            <p:custDataLst>
              <p:tags r:id="rId7"/>
            </p:custDataLst>
          </p:nvPr>
        </p:nvSpPr>
        <p:spPr>
          <a:xfrm>
            <a:off x="5825490" y="1877060"/>
            <a:ext cx="5094605" cy="51054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 lvl="0" algn="l">
              <a:buClrTx/>
              <a:buSzTx/>
              <a:buFontTx/>
            </a:pPr>
            <a:r>
              <a:rPr lang="zh-CN" altLang="en-US" sz="2400" dirty="0">
                <a:solidFill>
                  <a:schemeClr val="tx1"/>
                </a:solidFill>
                <a:latin typeface="新宋体" charset="0"/>
                <a:ea typeface="新宋体" charset="0"/>
                <a:cs typeface="MiSans Normal" panose="00000500000000000000" charset="-122"/>
                <a:sym typeface="+mn-ea"/>
              </a:rPr>
              <a:t>需求分析</a:t>
            </a:r>
            <a:endParaRPr lang="zh-CN" altLang="en-US" sz="2400" dirty="0">
              <a:solidFill>
                <a:schemeClr val="tx1"/>
              </a:solidFill>
              <a:latin typeface="新宋体" charset="0"/>
              <a:ea typeface="新宋体" charset="0"/>
              <a:cs typeface="MiSans Normal" panose="00000500000000000000" charset="-122"/>
              <a:sym typeface="+mn-ea"/>
            </a:endParaRPr>
          </a:p>
        </p:txBody>
      </p:sp>
      <p:sp>
        <p:nvSpPr>
          <p:cNvPr id="62" name="矩形: 圆角 4"/>
          <p:cNvSpPr/>
          <p:nvPr>
            <p:custDataLst>
              <p:tags r:id="rId8"/>
            </p:custDataLst>
          </p:nvPr>
        </p:nvSpPr>
        <p:spPr>
          <a:xfrm>
            <a:off x="4197985" y="2696210"/>
            <a:ext cx="7268845" cy="606425"/>
          </a:xfrm>
          <a:prstGeom prst="roundRect">
            <a:avLst>
              <a:gd name="adj" fmla="val 13370"/>
            </a:avLst>
          </a:prstGeom>
          <a:solidFill>
            <a:srgbClr val="FFFFFF"/>
          </a:solidFill>
          <a:ln>
            <a:noFill/>
            <a:prstDash val="solid"/>
          </a:ln>
          <a:effectLst>
            <a:outerShdw blurRad="114300" dist="50800" dir="8100000" algn="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>
              <a:cs typeface="MiSans Normal" panose="00000500000000000000" charset="-122"/>
              <a:sym typeface="+mn-ea"/>
            </a:endParaRPr>
          </a:p>
        </p:txBody>
      </p:sp>
      <p:sp>
        <p:nvSpPr>
          <p:cNvPr id="63" name="序号"/>
          <p:cNvSpPr/>
          <p:nvPr>
            <p:custDataLst>
              <p:tags r:id="rId9"/>
            </p:custDataLst>
          </p:nvPr>
        </p:nvSpPr>
        <p:spPr>
          <a:xfrm>
            <a:off x="4519295" y="2778760"/>
            <a:ext cx="441325" cy="441325"/>
          </a:xfrm>
          <a:prstGeom prst="ellipse">
            <a:avLst/>
          </a:prstGeom>
          <a:gradFill flip="none" rotWithShape="1">
            <a:gsLst>
              <a:gs pos="20000">
                <a:schemeClr val="accent1">
                  <a:alpha val="65000"/>
                </a:schemeClr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altLang="zh-CN" sz="1400" dirty="0">
                <a:solidFill>
                  <a:schemeClr val="tx1"/>
                </a:solidFill>
                <a:cs typeface="MiSans Normal" panose="00000500000000000000" charset="-122"/>
                <a:sym typeface="+mn-ea"/>
              </a:rPr>
              <a:t>03</a:t>
            </a:r>
            <a:endParaRPr lang="en-US" altLang="zh-CN" sz="1400" dirty="0">
              <a:solidFill>
                <a:schemeClr val="tx1"/>
              </a:solidFill>
              <a:cs typeface="MiSans Normal" panose="00000500000000000000" charset="-122"/>
              <a:sym typeface="+mn-ea"/>
            </a:endParaRPr>
          </a:p>
        </p:txBody>
      </p:sp>
      <p:sp>
        <p:nvSpPr>
          <p:cNvPr id="64" name="标题"/>
          <p:cNvSpPr txBox="1"/>
          <p:nvPr>
            <p:custDataLst>
              <p:tags r:id="rId10"/>
            </p:custDataLst>
          </p:nvPr>
        </p:nvSpPr>
        <p:spPr>
          <a:xfrm>
            <a:off x="5825490" y="2744470"/>
            <a:ext cx="5094605" cy="51054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 lvl="0" algn="l">
              <a:buClrTx/>
              <a:buSzTx/>
              <a:buFontTx/>
            </a:pPr>
            <a:r>
              <a:rPr lang="zh-CN" altLang="en-US" sz="2400" dirty="0">
                <a:solidFill>
                  <a:schemeClr val="tx1"/>
                </a:solidFill>
                <a:latin typeface="新宋体" charset="0"/>
                <a:ea typeface="新宋体" charset="0"/>
                <a:cs typeface="MiSans Normal" panose="00000500000000000000" charset="-122"/>
                <a:sym typeface="+mn-ea"/>
              </a:rPr>
              <a:t>数据库</a:t>
            </a:r>
            <a:r>
              <a:rPr lang="zh-CN" altLang="en-US" sz="2400" dirty="0">
                <a:solidFill>
                  <a:schemeClr val="tx1"/>
                </a:solidFill>
                <a:latin typeface="新宋体" charset="0"/>
                <a:ea typeface="新宋体" charset="0"/>
                <a:cs typeface="MiSans Normal" panose="00000500000000000000" charset="-122"/>
                <a:sym typeface="+mn-ea"/>
              </a:rPr>
              <a:t>设计</a:t>
            </a:r>
            <a:endParaRPr lang="zh-CN" altLang="en-US" sz="2400" dirty="0">
              <a:solidFill>
                <a:schemeClr val="tx1"/>
              </a:solidFill>
              <a:latin typeface="新宋体" charset="0"/>
              <a:ea typeface="新宋体" charset="0"/>
              <a:cs typeface="MiSans Normal" panose="00000500000000000000" charset="-122"/>
              <a:sym typeface="+mn-ea"/>
            </a:endParaRPr>
          </a:p>
        </p:txBody>
      </p:sp>
      <p:sp>
        <p:nvSpPr>
          <p:cNvPr id="66" name="矩形: 圆角 4"/>
          <p:cNvSpPr/>
          <p:nvPr>
            <p:custDataLst>
              <p:tags r:id="rId11"/>
            </p:custDataLst>
          </p:nvPr>
        </p:nvSpPr>
        <p:spPr>
          <a:xfrm>
            <a:off x="4197985" y="3563620"/>
            <a:ext cx="7268845" cy="606425"/>
          </a:xfrm>
          <a:prstGeom prst="roundRect">
            <a:avLst>
              <a:gd name="adj" fmla="val 13370"/>
            </a:avLst>
          </a:prstGeom>
          <a:solidFill>
            <a:srgbClr val="FFFFFF"/>
          </a:solidFill>
          <a:ln>
            <a:noFill/>
            <a:prstDash val="solid"/>
          </a:ln>
          <a:effectLst>
            <a:outerShdw blurRad="114300" dist="50800" dir="8100000" algn="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>
              <a:cs typeface="MiSans Normal" panose="00000500000000000000" charset="-122"/>
              <a:sym typeface="+mn-ea"/>
            </a:endParaRPr>
          </a:p>
        </p:txBody>
      </p:sp>
      <p:sp>
        <p:nvSpPr>
          <p:cNvPr id="67" name="序号"/>
          <p:cNvSpPr/>
          <p:nvPr>
            <p:custDataLst>
              <p:tags r:id="rId12"/>
            </p:custDataLst>
          </p:nvPr>
        </p:nvSpPr>
        <p:spPr>
          <a:xfrm>
            <a:off x="4519295" y="3646170"/>
            <a:ext cx="441325" cy="441325"/>
          </a:xfrm>
          <a:prstGeom prst="ellipse">
            <a:avLst/>
          </a:prstGeom>
          <a:gradFill flip="none" rotWithShape="1">
            <a:gsLst>
              <a:gs pos="20000">
                <a:schemeClr val="accent1">
                  <a:alpha val="65000"/>
                </a:schemeClr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altLang="zh-CN" sz="1400" dirty="0">
                <a:solidFill>
                  <a:schemeClr val="tx1"/>
                </a:solidFill>
                <a:cs typeface="MiSans Normal" panose="00000500000000000000" charset="-122"/>
                <a:sym typeface="+mn-ea"/>
              </a:rPr>
              <a:t>04</a:t>
            </a:r>
            <a:endParaRPr lang="en-US" altLang="zh-CN" sz="1400" dirty="0">
              <a:solidFill>
                <a:schemeClr val="tx1"/>
              </a:solidFill>
              <a:cs typeface="MiSans Normal" panose="00000500000000000000" charset="-122"/>
              <a:sym typeface="+mn-ea"/>
            </a:endParaRPr>
          </a:p>
        </p:txBody>
      </p:sp>
      <p:sp>
        <p:nvSpPr>
          <p:cNvPr id="68" name="标题"/>
          <p:cNvSpPr txBox="1"/>
          <p:nvPr>
            <p:custDataLst>
              <p:tags r:id="rId13"/>
            </p:custDataLst>
          </p:nvPr>
        </p:nvSpPr>
        <p:spPr>
          <a:xfrm>
            <a:off x="5825490" y="3611880"/>
            <a:ext cx="5094605" cy="51054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 lvl="0" algn="l">
              <a:buClrTx/>
              <a:buSzTx/>
              <a:buFontTx/>
            </a:pPr>
            <a:r>
              <a:rPr lang="zh-CN" altLang="en-US" sz="2400" dirty="0">
                <a:solidFill>
                  <a:schemeClr val="tx1"/>
                </a:solidFill>
                <a:latin typeface="新宋体" charset="0"/>
                <a:ea typeface="新宋体" charset="0"/>
                <a:cs typeface="MiSans Normal" panose="00000500000000000000" charset="-122"/>
                <a:sym typeface="+mn-ea"/>
              </a:rPr>
              <a:t>模型图</a:t>
            </a:r>
            <a:endParaRPr lang="zh-CN" altLang="en-US" sz="2400" dirty="0">
              <a:solidFill>
                <a:schemeClr val="tx1"/>
              </a:solidFill>
              <a:latin typeface="新宋体" charset="0"/>
              <a:ea typeface="新宋体" charset="0"/>
              <a:cs typeface="MiSans Normal" panose="00000500000000000000" charset="-122"/>
              <a:sym typeface="+mn-ea"/>
            </a:endParaRPr>
          </a:p>
        </p:txBody>
      </p:sp>
      <p:sp>
        <p:nvSpPr>
          <p:cNvPr id="70" name="矩形: 圆角 4"/>
          <p:cNvSpPr/>
          <p:nvPr>
            <p:custDataLst>
              <p:tags r:id="rId14"/>
            </p:custDataLst>
          </p:nvPr>
        </p:nvSpPr>
        <p:spPr>
          <a:xfrm>
            <a:off x="4197985" y="4431030"/>
            <a:ext cx="7268845" cy="606425"/>
          </a:xfrm>
          <a:prstGeom prst="roundRect">
            <a:avLst>
              <a:gd name="adj" fmla="val 13370"/>
            </a:avLst>
          </a:prstGeom>
          <a:solidFill>
            <a:srgbClr val="FFFFFF"/>
          </a:solidFill>
          <a:ln>
            <a:noFill/>
            <a:prstDash val="solid"/>
          </a:ln>
          <a:effectLst>
            <a:outerShdw blurRad="114300" dist="50800" dir="8100000" algn="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>
              <a:cs typeface="MiSans Normal" panose="00000500000000000000" charset="-122"/>
              <a:sym typeface="+mn-ea"/>
            </a:endParaRPr>
          </a:p>
        </p:txBody>
      </p:sp>
      <p:sp>
        <p:nvSpPr>
          <p:cNvPr id="71" name="序号"/>
          <p:cNvSpPr/>
          <p:nvPr>
            <p:custDataLst>
              <p:tags r:id="rId15"/>
            </p:custDataLst>
          </p:nvPr>
        </p:nvSpPr>
        <p:spPr>
          <a:xfrm>
            <a:off x="4519295" y="4513580"/>
            <a:ext cx="441325" cy="441325"/>
          </a:xfrm>
          <a:prstGeom prst="ellipse">
            <a:avLst/>
          </a:prstGeom>
          <a:gradFill flip="none" rotWithShape="1">
            <a:gsLst>
              <a:gs pos="20000">
                <a:schemeClr val="accent1">
                  <a:alpha val="65000"/>
                </a:schemeClr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altLang="zh-CN" sz="1400" dirty="0">
                <a:solidFill>
                  <a:schemeClr val="tx1"/>
                </a:solidFill>
                <a:cs typeface="MiSans Normal" panose="00000500000000000000" charset="-122"/>
                <a:sym typeface="+mn-ea"/>
              </a:rPr>
              <a:t>05</a:t>
            </a:r>
            <a:endParaRPr lang="en-US" altLang="zh-CN" sz="1400" dirty="0">
              <a:solidFill>
                <a:schemeClr val="tx1"/>
              </a:solidFill>
              <a:cs typeface="MiSans Normal" panose="00000500000000000000" charset="-122"/>
              <a:sym typeface="+mn-ea"/>
            </a:endParaRPr>
          </a:p>
        </p:txBody>
      </p:sp>
      <p:sp>
        <p:nvSpPr>
          <p:cNvPr id="72" name="标题"/>
          <p:cNvSpPr txBox="1"/>
          <p:nvPr>
            <p:custDataLst>
              <p:tags r:id="rId16"/>
            </p:custDataLst>
          </p:nvPr>
        </p:nvSpPr>
        <p:spPr>
          <a:xfrm>
            <a:off x="5825490" y="4479290"/>
            <a:ext cx="5094605" cy="51054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 algn="l">
              <a:buClrTx/>
              <a:buSzTx/>
              <a:buFontTx/>
            </a:pPr>
            <a:r>
              <a:rPr lang="zh-CN" altLang="en-US" sz="2400" dirty="0">
                <a:solidFill>
                  <a:schemeClr val="tx1"/>
                </a:solidFill>
                <a:latin typeface="新宋体" charset="0"/>
                <a:ea typeface="新宋体" charset="0"/>
                <a:cs typeface="MiSans Normal" panose="00000500000000000000" charset="-122"/>
                <a:sym typeface="+mn-ea"/>
              </a:rPr>
              <a:t>功能设计</a:t>
            </a:r>
            <a:endParaRPr lang="zh-CN" altLang="en-US" sz="2400" dirty="0">
              <a:solidFill>
                <a:schemeClr val="tx1"/>
              </a:solidFill>
              <a:latin typeface="新宋体" charset="0"/>
              <a:ea typeface="新宋体" charset="0"/>
              <a:cs typeface="MiSans Normal" panose="00000500000000000000" charset="-122"/>
              <a:sym typeface="+mn-ea"/>
            </a:endParaRPr>
          </a:p>
        </p:txBody>
      </p:sp>
      <p:sp>
        <p:nvSpPr>
          <p:cNvPr id="74" name="矩形: 圆角 4"/>
          <p:cNvSpPr/>
          <p:nvPr>
            <p:custDataLst>
              <p:tags r:id="rId17"/>
            </p:custDataLst>
          </p:nvPr>
        </p:nvSpPr>
        <p:spPr>
          <a:xfrm>
            <a:off x="4197985" y="5298440"/>
            <a:ext cx="7268845" cy="606425"/>
          </a:xfrm>
          <a:prstGeom prst="roundRect">
            <a:avLst>
              <a:gd name="adj" fmla="val 13370"/>
            </a:avLst>
          </a:prstGeom>
          <a:solidFill>
            <a:srgbClr val="FFFFFF"/>
          </a:solidFill>
          <a:ln>
            <a:noFill/>
            <a:prstDash val="solid"/>
          </a:ln>
          <a:effectLst>
            <a:outerShdw blurRad="114300" dist="50800" dir="8100000" algn="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>
              <a:cs typeface="MiSans Normal" panose="00000500000000000000" charset="-122"/>
              <a:sym typeface="+mn-ea"/>
            </a:endParaRPr>
          </a:p>
        </p:txBody>
      </p:sp>
      <p:sp>
        <p:nvSpPr>
          <p:cNvPr id="75" name="序号"/>
          <p:cNvSpPr/>
          <p:nvPr>
            <p:custDataLst>
              <p:tags r:id="rId18"/>
            </p:custDataLst>
          </p:nvPr>
        </p:nvSpPr>
        <p:spPr>
          <a:xfrm>
            <a:off x="4519295" y="5380990"/>
            <a:ext cx="441325" cy="441325"/>
          </a:xfrm>
          <a:prstGeom prst="ellipse">
            <a:avLst/>
          </a:prstGeom>
          <a:gradFill flip="none" rotWithShape="1">
            <a:gsLst>
              <a:gs pos="20000">
                <a:schemeClr val="accent1">
                  <a:alpha val="65000"/>
                </a:schemeClr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altLang="zh-CN" sz="1400" dirty="0">
                <a:solidFill>
                  <a:schemeClr val="tx1"/>
                </a:solidFill>
                <a:cs typeface="MiSans Normal" panose="00000500000000000000" charset="-122"/>
                <a:sym typeface="+mn-ea"/>
              </a:rPr>
              <a:t>06</a:t>
            </a:r>
            <a:endParaRPr lang="en-US" altLang="zh-CN" sz="1400" dirty="0">
              <a:solidFill>
                <a:schemeClr val="tx1"/>
              </a:solidFill>
              <a:cs typeface="MiSans Normal" panose="00000500000000000000" charset="-122"/>
              <a:sym typeface="+mn-ea"/>
            </a:endParaRPr>
          </a:p>
        </p:txBody>
      </p:sp>
      <p:sp>
        <p:nvSpPr>
          <p:cNvPr id="76" name="标题"/>
          <p:cNvSpPr txBox="1"/>
          <p:nvPr>
            <p:custDataLst>
              <p:tags r:id="rId19"/>
            </p:custDataLst>
          </p:nvPr>
        </p:nvSpPr>
        <p:spPr>
          <a:xfrm>
            <a:off x="5825490" y="5346700"/>
            <a:ext cx="5094605" cy="51054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 marL="0"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2400" dirty="0">
                <a:solidFill>
                  <a:schemeClr val="tx1"/>
                </a:solidFill>
                <a:latin typeface="新宋体" charset="0"/>
                <a:ea typeface="新宋体" charset="0"/>
                <a:cs typeface="MiSans Normal" panose="00000500000000000000" charset="-122"/>
              </a:rPr>
              <a:t>模块划分</a:t>
            </a:r>
            <a:endParaRPr lang="zh-CN" altLang="en-US" sz="2400" dirty="0">
              <a:solidFill>
                <a:schemeClr val="tx1"/>
              </a:solidFill>
              <a:latin typeface="新宋体" charset="0"/>
              <a:ea typeface="新宋体" charset="0"/>
              <a:cs typeface="MiSans Normal" panose="00000500000000000000" charset="-122"/>
            </a:endParaRPr>
          </a:p>
        </p:txBody>
      </p:sp>
      <p:sp>
        <p:nvSpPr>
          <p:cNvPr id="53" name="任意多边形: 形状 21"/>
          <p:cNvSpPr/>
          <p:nvPr>
            <p:custDataLst>
              <p:tags r:id="rId20"/>
            </p:custDataLst>
          </p:nvPr>
        </p:nvSpPr>
        <p:spPr>
          <a:xfrm>
            <a:off x="899801" y="1356667"/>
            <a:ext cx="1482138" cy="210369"/>
          </a:xfrm>
          <a:custGeom>
            <a:avLst/>
            <a:gdLst/>
            <a:ahLst/>
            <a:cxnLst/>
            <a:rect l="l" t="t" r="r" b="b"/>
            <a:pathLst>
              <a:path w="1482138" h="210369">
                <a:moveTo>
                  <a:pt x="296209" y="44748"/>
                </a:moveTo>
                <a:cubicBezTo>
                  <a:pt x="281464" y="44748"/>
                  <a:pt x="269891" y="50063"/>
                  <a:pt x="261490" y="60693"/>
                </a:cubicBezTo>
                <a:cubicBezTo>
                  <a:pt x="253089" y="71323"/>
                  <a:pt x="248889" y="86153"/>
                  <a:pt x="248889" y="105184"/>
                </a:cubicBezTo>
                <a:cubicBezTo>
                  <a:pt x="248889" y="124215"/>
                  <a:pt x="253089" y="139046"/>
                  <a:pt x="261490" y="149676"/>
                </a:cubicBezTo>
                <a:cubicBezTo>
                  <a:pt x="269891" y="160306"/>
                  <a:pt x="281464" y="165621"/>
                  <a:pt x="296209" y="165621"/>
                </a:cubicBezTo>
                <a:cubicBezTo>
                  <a:pt x="310954" y="165621"/>
                  <a:pt x="322526" y="160306"/>
                  <a:pt x="330928" y="149676"/>
                </a:cubicBezTo>
                <a:cubicBezTo>
                  <a:pt x="339329" y="139046"/>
                  <a:pt x="343529" y="124215"/>
                  <a:pt x="343529" y="105184"/>
                </a:cubicBezTo>
                <a:cubicBezTo>
                  <a:pt x="343529" y="86153"/>
                  <a:pt x="339329" y="71323"/>
                  <a:pt x="330928" y="60693"/>
                </a:cubicBezTo>
                <a:cubicBezTo>
                  <a:pt x="322526" y="50063"/>
                  <a:pt x="310954" y="44748"/>
                  <a:pt x="296209" y="44748"/>
                </a:cubicBezTo>
                <a:close/>
                <a:moveTo>
                  <a:pt x="1148925" y="3600"/>
                </a:moveTo>
                <a:lnTo>
                  <a:pt x="1308374" y="3600"/>
                </a:lnTo>
                <a:lnTo>
                  <a:pt x="1308374" y="48349"/>
                </a:lnTo>
                <a:lnTo>
                  <a:pt x="1252567" y="48349"/>
                </a:lnTo>
                <a:lnTo>
                  <a:pt x="1252567" y="206769"/>
                </a:lnTo>
                <a:lnTo>
                  <a:pt x="1204732" y="206769"/>
                </a:lnTo>
                <a:lnTo>
                  <a:pt x="1204732" y="48349"/>
                </a:lnTo>
                <a:lnTo>
                  <a:pt x="1148925" y="48349"/>
                </a:lnTo>
                <a:close/>
                <a:moveTo>
                  <a:pt x="958158" y="3600"/>
                </a:moveTo>
                <a:lnTo>
                  <a:pt x="1001878" y="3600"/>
                </a:lnTo>
                <a:lnTo>
                  <a:pt x="1079802" y="118815"/>
                </a:lnTo>
                <a:lnTo>
                  <a:pt x="1081345" y="118815"/>
                </a:lnTo>
                <a:lnTo>
                  <a:pt x="1081345" y="3600"/>
                </a:lnTo>
                <a:lnTo>
                  <a:pt x="1129180" y="3600"/>
                </a:lnTo>
                <a:lnTo>
                  <a:pt x="1129180" y="206769"/>
                </a:lnTo>
                <a:lnTo>
                  <a:pt x="1088032" y="206769"/>
                </a:lnTo>
                <a:lnTo>
                  <a:pt x="1007536" y="91554"/>
                </a:lnTo>
                <a:lnTo>
                  <a:pt x="1005993" y="91554"/>
                </a:lnTo>
                <a:lnTo>
                  <a:pt x="1005993" y="206769"/>
                </a:lnTo>
                <a:lnTo>
                  <a:pt x="958158" y="206769"/>
                </a:lnTo>
                <a:close/>
                <a:moveTo>
                  <a:pt x="786708" y="3600"/>
                </a:moveTo>
                <a:lnTo>
                  <a:pt x="924811" y="3600"/>
                </a:lnTo>
                <a:lnTo>
                  <a:pt x="924811" y="46806"/>
                </a:lnTo>
                <a:lnTo>
                  <a:pt x="834543" y="46806"/>
                </a:lnTo>
                <a:lnTo>
                  <a:pt x="834543" y="82296"/>
                </a:lnTo>
                <a:lnTo>
                  <a:pt x="919925" y="82296"/>
                </a:lnTo>
                <a:lnTo>
                  <a:pt x="919925" y="125501"/>
                </a:lnTo>
                <a:lnTo>
                  <a:pt x="834543" y="125501"/>
                </a:lnTo>
                <a:lnTo>
                  <a:pt x="834543" y="163563"/>
                </a:lnTo>
                <a:lnTo>
                  <a:pt x="927897" y="163563"/>
                </a:lnTo>
                <a:lnTo>
                  <a:pt x="927897" y="206769"/>
                </a:lnTo>
                <a:lnTo>
                  <a:pt x="786708" y="206769"/>
                </a:lnTo>
                <a:close/>
                <a:moveTo>
                  <a:pt x="606000" y="3600"/>
                </a:moveTo>
                <a:lnTo>
                  <a:pt x="765449" y="3600"/>
                </a:lnTo>
                <a:lnTo>
                  <a:pt x="765449" y="48349"/>
                </a:lnTo>
                <a:lnTo>
                  <a:pt x="709642" y="48349"/>
                </a:lnTo>
                <a:lnTo>
                  <a:pt x="709642" y="206769"/>
                </a:lnTo>
                <a:lnTo>
                  <a:pt x="661807" y="206769"/>
                </a:lnTo>
                <a:lnTo>
                  <a:pt x="661807" y="48349"/>
                </a:lnTo>
                <a:lnTo>
                  <a:pt x="606000" y="48349"/>
                </a:lnTo>
                <a:close/>
                <a:moveTo>
                  <a:pt x="415233" y="3600"/>
                </a:moveTo>
                <a:lnTo>
                  <a:pt x="458953" y="3600"/>
                </a:lnTo>
                <a:lnTo>
                  <a:pt x="536877" y="118815"/>
                </a:lnTo>
                <a:lnTo>
                  <a:pt x="538420" y="118815"/>
                </a:lnTo>
                <a:lnTo>
                  <a:pt x="538420" y="3600"/>
                </a:lnTo>
                <a:lnTo>
                  <a:pt x="586255" y="3600"/>
                </a:lnTo>
                <a:lnTo>
                  <a:pt x="586255" y="206769"/>
                </a:lnTo>
                <a:lnTo>
                  <a:pt x="545107" y="206769"/>
                </a:lnTo>
                <a:lnTo>
                  <a:pt x="464611" y="91554"/>
                </a:lnTo>
                <a:lnTo>
                  <a:pt x="463068" y="91554"/>
                </a:lnTo>
                <a:lnTo>
                  <a:pt x="463068" y="206769"/>
                </a:lnTo>
                <a:lnTo>
                  <a:pt x="415233" y="206769"/>
                </a:lnTo>
                <a:close/>
                <a:moveTo>
                  <a:pt x="1403185" y="0"/>
                </a:moveTo>
                <a:cubicBezTo>
                  <a:pt x="1439876" y="0"/>
                  <a:pt x="1466193" y="16459"/>
                  <a:pt x="1482138" y="49377"/>
                </a:cubicBezTo>
                <a:lnTo>
                  <a:pt x="1440990" y="68408"/>
                </a:lnTo>
                <a:cubicBezTo>
                  <a:pt x="1436704" y="59322"/>
                  <a:pt x="1431475" y="52849"/>
                  <a:pt x="1425302" y="48992"/>
                </a:cubicBezTo>
                <a:cubicBezTo>
                  <a:pt x="1419130" y="45134"/>
                  <a:pt x="1411587" y="43205"/>
                  <a:pt x="1402671" y="43205"/>
                </a:cubicBezTo>
                <a:cubicBezTo>
                  <a:pt x="1394613" y="43205"/>
                  <a:pt x="1387798" y="44963"/>
                  <a:pt x="1382226" y="48477"/>
                </a:cubicBezTo>
                <a:cubicBezTo>
                  <a:pt x="1376654" y="51992"/>
                  <a:pt x="1373867" y="56407"/>
                  <a:pt x="1373867" y="61722"/>
                </a:cubicBezTo>
                <a:cubicBezTo>
                  <a:pt x="1373867" y="65322"/>
                  <a:pt x="1374939" y="68280"/>
                  <a:pt x="1377082" y="70594"/>
                </a:cubicBezTo>
                <a:cubicBezTo>
                  <a:pt x="1379225" y="72909"/>
                  <a:pt x="1382954" y="75181"/>
                  <a:pt x="1388269" y="77410"/>
                </a:cubicBezTo>
                <a:cubicBezTo>
                  <a:pt x="1393584" y="79638"/>
                  <a:pt x="1401471" y="82124"/>
                  <a:pt x="1411929" y="84868"/>
                </a:cubicBezTo>
                <a:cubicBezTo>
                  <a:pt x="1425474" y="88297"/>
                  <a:pt x="1436875" y="91940"/>
                  <a:pt x="1446134" y="95798"/>
                </a:cubicBezTo>
                <a:cubicBezTo>
                  <a:pt x="1455392" y="99655"/>
                  <a:pt x="1463536" y="105699"/>
                  <a:pt x="1470565" y="113928"/>
                </a:cubicBezTo>
                <a:cubicBezTo>
                  <a:pt x="1477595" y="122158"/>
                  <a:pt x="1481109" y="133131"/>
                  <a:pt x="1481109" y="146847"/>
                </a:cubicBezTo>
                <a:cubicBezTo>
                  <a:pt x="1481109" y="159534"/>
                  <a:pt x="1477680" y="170678"/>
                  <a:pt x="1470822" y="180280"/>
                </a:cubicBezTo>
                <a:cubicBezTo>
                  <a:pt x="1463964" y="189881"/>
                  <a:pt x="1454406" y="197296"/>
                  <a:pt x="1442147" y="202525"/>
                </a:cubicBezTo>
                <a:cubicBezTo>
                  <a:pt x="1429889" y="207754"/>
                  <a:pt x="1415873" y="210369"/>
                  <a:pt x="1400099" y="210369"/>
                </a:cubicBezTo>
                <a:cubicBezTo>
                  <a:pt x="1380726" y="210369"/>
                  <a:pt x="1363881" y="205697"/>
                  <a:pt x="1349564" y="196353"/>
                </a:cubicBezTo>
                <a:cubicBezTo>
                  <a:pt x="1335248" y="187009"/>
                  <a:pt x="1324661" y="174622"/>
                  <a:pt x="1317803" y="159191"/>
                </a:cubicBezTo>
                <a:lnTo>
                  <a:pt x="1359209" y="140417"/>
                </a:lnTo>
                <a:cubicBezTo>
                  <a:pt x="1362638" y="149333"/>
                  <a:pt x="1367952" y="156019"/>
                  <a:pt x="1375153" y="160477"/>
                </a:cubicBezTo>
                <a:cubicBezTo>
                  <a:pt x="1382354" y="164935"/>
                  <a:pt x="1390755" y="167164"/>
                  <a:pt x="1400357" y="167164"/>
                </a:cubicBezTo>
                <a:cubicBezTo>
                  <a:pt x="1410129" y="167164"/>
                  <a:pt x="1417887" y="165578"/>
                  <a:pt x="1423631" y="162406"/>
                </a:cubicBezTo>
                <a:cubicBezTo>
                  <a:pt x="1429374" y="159234"/>
                  <a:pt x="1432246" y="154905"/>
                  <a:pt x="1432246" y="149419"/>
                </a:cubicBezTo>
                <a:cubicBezTo>
                  <a:pt x="1432246" y="145647"/>
                  <a:pt x="1431217" y="142475"/>
                  <a:pt x="1429160" y="139903"/>
                </a:cubicBezTo>
                <a:cubicBezTo>
                  <a:pt x="1427103" y="137331"/>
                  <a:pt x="1423374" y="134888"/>
                  <a:pt x="1417973" y="132574"/>
                </a:cubicBezTo>
                <a:cubicBezTo>
                  <a:pt x="1412572" y="130259"/>
                  <a:pt x="1404729" y="127730"/>
                  <a:pt x="1394442" y="124987"/>
                </a:cubicBezTo>
                <a:cubicBezTo>
                  <a:pt x="1380554" y="121215"/>
                  <a:pt x="1369024" y="117400"/>
                  <a:pt x="1359851" y="113543"/>
                </a:cubicBezTo>
                <a:cubicBezTo>
                  <a:pt x="1350679" y="109685"/>
                  <a:pt x="1342578" y="103599"/>
                  <a:pt x="1335548" y="95283"/>
                </a:cubicBezTo>
                <a:cubicBezTo>
                  <a:pt x="1328519" y="86968"/>
                  <a:pt x="1325004" y="76038"/>
                  <a:pt x="1325004" y="62493"/>
                </a:cubicBezTo>
                <a:cubicBezTo>
                  <a:pt x="1325004" y="50492"/>
                  <a:pt x="1328476" y="39733"/>
                  <a:pt x="1335420" y="30218"/>
                </a:cubicBezTo>
                <a:cubicBezTo>
                  <a:pt x="1342364" y="20702"/>
                  <a:pt x="1351793" y="13287"/>
                  <a:pt x="1363709" y="7972"/>
                </a:cubicBezTo>
                <a:cubicBezTo>
                  <a:pt x="1375625" y="2657"/>
                  <a:pt x="1388784" y="0"/>
                  <a:pt x="1403185" y="0"/>
                </a:cubicBezTo>
                <a:close/>
                <a:moveTo>
                  <a:pt x="296209" y="0"/>
                </a:moveTo>
                <a:cubicBezTo>
                  <a:pt x="315926" y="0"/>
                  <a:pt x="332985" y="4200"/>
                  <a:pt x="347387" y="12601"/>
                </a:cubicBezTo>
                <a:cubicBezTo>
                  <a:pt x="361789" y="21002"/>
                  <a:pt x="372890" y="33090"/>
                  <a:pt x="380691" y="48863"/>
                </a:cubicBezTo>
                <a:cubicBezTo>
                  <a:pt x="388492" y="64637"/>
                  <a:pt x="392392" y="83410"/>
                  <a:pt x="392392" y="105184"/>
                </a:cubicBezTo>
                <a:cubicBezTo>
                  <a:pt x="392392" y="126959"/>
                  <a:pt x="388492" y="145732"/>
                  <a:pt x="380691" y="161506"/>
                </a:cubicBezTo>
                <a:cubicBezTo>
                  <a:pt x="372890" y="177279"/>
                  <a:pt x="361789" y="189366"/>
                  <a:pt x="347387" y="197768"/>
                </a:cubicBezTo>
                <a:cubicBezTo>
                  <a:pt x="332985" y="206169"/>
                  <a:pt x="315926" y="210369"/>
                  <a:pt x="296209" y="210369"/>
                </a:cubicBezTo>
                <a:cubicBezTo>
                  <a:pt x="276492" y="210369"/>
                  <a:pt x="259433" y="206169"/>
                  <a:pt x="245031" y="197768"/>
                </a:cubicBezTo>
                <a:cubicBezTo>
                  <a:pt x="230629" y="189366"/>
                  <a:pt x="219528" y="177279"/>
                  <a:pt x="211727" y="161506"/>
                </a:cubicBezTo>
                <a:cubicBezTo>
                  <a:pt x="203926" y="145732"/>
                  <a:pt x="200026" y="126959"/>
                  <a:pt x="200026" y="105184"/>
                </a:cubicBezTo>
                <a:cubicBezTo>
                  <a:pt x="200026" y="83410"/>
                  <a:pt x="203926" y="64637"/>
                  <a:pt x="211727" y="48863"/>
                </a:cubicBezTo>
                <a:cubicBezTo>
                  <a:pt x="219528" y="33090"/>
                  <a:pt x="230629" y="21002"/>
                  <a:pt x="245031" y="12601"/>
                </a:cubicBezTo>
                <a:cubicBezTo>
                  <a:pt x="259433" y="4200"/>
                  <a:pt x="276492" y="0"/>
                  <a:pt x="296209" y="0"/>
                </a:cubicBezTo>
                <a:close/>
                <a:moveTo>
                  <a:pt x="99784" y="0"/>
                </a:moveTo>
                <a:cubicBezTo>
                  <a:pt x="134932" y="0"/>
                  <a:pt x="160649" y="17231"/>
                  <a:pt x="176937" y="51692"/>
                </a:cubicBezTo>
                <a:lnTo>
                  <a:pt x="134503" y="70209"/>
                </a:lnTo>
                <a:cubicBezTo>
                  <a:pt x="130903" y="61808"/>
                  <a:pt x="125888" y="55464"/>
                  <a:pt x="119458" y="51178"/>
                </a:cubicBezTo>
                <a:cubicBezTo>
                  <a:pt x="113029" y="46891"/>
                  <a:pt x="105528" y="44748"/>
                  <a:pt x="96955" y="44748"/>
                </a:cubicBezTo>
                <a:cubicBezTo>
                  <a:pt x="87697" y="44748"/>
                  <a:pt x="79425" y="47191"/>
                  <a:pt x="72138" y="52078"/>
                </a:cubicBezTo>
                <a:cubicBezTo>
                  <a:pt x="64851" y="56964"/>
                  <a:pt x="59194" y="63908"/>
                  <a:pt x="55164" y="72909"/>
                </a:cubicBezTo>
                <a:cubicBezTo>
                  <a:pt x="51135" y="81910"/>
                  <a:pt x="49121" y="92326"/>
                  <a:pt x="49121" y="104156"/>
                </a:cubicBezTo>
                <a:cubicBezTo>
                  <a:pt x="49121" y="116500"/>
                  <a:pt x="51135" y="127302"/>
                  <a:pt x="55164" y="136560"/>
                </a:cubicBezTo>
                <a:cubicBezTo>
                  <a:pt x="59194" y="145818"/>
                  <a:pt x="64851" y="152976"/>
                  <a:pt x="72138" y="158034"/>
                </a:cubicBezTo>
                <a:cubicBezTo>
                  <a:pt x="79425" y="163092"/>
                  <a:pt x="87697" y="165621"/>
                  <a:pt x="96955" y="165621"/>
                </a:cubicBezTo>
                <a:cubicBezTo>
                  <a:pt x="113243" y="165621"/>
                  <a:pt x="125930" y="157134"/>
                  <a:pt x="135017" y="140160"/>
                </a:cubicBezTo>
                <a:lnTo>
                  <a:pt x="177451" y="158677"/>
                </a:lnTo>
                <a:cubicBezTo>
                  <a:pt x="169736" y="175308"/>
                  <a:pt x="158978" y="188081"/>
                  <a:pt x="145176" y="196996"/>
                </a:cubicBezTo>
                <a:cubicBezTo>
                  <a:pt x="131374" y="205911"/>
                  <a:pt x="115386" y="210369"/>
                  <a:pt x="97213" y="210369"/>
                </a:cubicBezTo>
                <a:cubicBezTo>
                  <a:pt x="78353" y="210369"/>
                  <a:pt x="61551" y="205954"/>
                  <a:pt x="46806" y="197125"/>
                </a:cubicBezTo>
                <a:cubicBezTo>
                  <a:pt x="32062" y="188295"/>
                  <a:pt x="20574" y="175822"/>
                  <a:pt x="12345" y="159706"/>
                </a:cubicBezTo>
                <a:cubicBezTo>
                  <a:pt x="4115" y="143589"/>
                  <a:pt x="0" y="125073"/>
                  <a:pt x="0" y="104156"/>
                </a:cubicBezTo>
                <a:cubicBezTo>
                  <a:pt x="0" y="83582"/>
                  <a:pt x="4158" y="65408"/>
                  <a:pt x="12473" y="49635"/>
                </a:cubicBezTo>
                <a:cubicBezTo>
                  <a:pt x="20789" y="33861"/>
                  <a:pt x="32533" y="21645"/>
                  <a:pt x="47706" y="12987"/>
                </a:cubicBezTo>
                <a:cubicBezTo>
                  <a:pt x="62880" y="4329"/>
                  <a:pt x="80239" y="0"/>
                  <a:pt x="9978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  <a:prstDash val="sysDot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indent="-228600">
              <a:spcAft>
                <a:spcPts val="1000"/>
              </a:spcAft>
            </a:pPr>
            <a:endParaRPr lang="zh-CN" altLang="en-US" sz="2000">
              <a:ln>
                <a:noFill/>
                <a:prstDash val="sysDot"/>
              </a:ln>
              <a:gradFill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0"/>
              </a:gradFill>
              <a:latin typeface="+mj-ea"/>
              <a:ea typeface="+mj-ea"/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>
            <a:normAutofit fontScale="97500" lnSpcReduction="10000"/>
          </a:bodyPr>
          <a:lstStyle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题目</a:t>
            </a:r>
            <a:r>
              <a:rPr lang="zh-CN" altLang="en-US"/>
              <a:t>介绍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标题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noFill/>
        </p:spPr>
        <p:txBody>
          <a:bodyPr vert="horz" wrap="square" lIns="107950" tIns="0" rIns="9144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题目介绍</a:t>
            </a:r>
            <a:endParaRPr>
              <a:sym typeface="+mn-ea"/>
            </a:endParaRPr>
          </a:p>
        </p:txBody>
      </p:sp>
      <p:sp>
        <p:nvSpPr>
          <p:cNvPr id="10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239981"/>
            <a:ext cx="10800000" cy="5009619"/>
          </a:xfrm>
          <a:prstGeom prst="rect">
            <a:avLst/>
          </a:prstGeom>
        </p:spPr>
        <p:txBody>
          <a:bodyPr vert="horz" wrap="square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拟设计并实现一个综合性的数据库系统，用于管理连锁销售公司的门店、商品（主要包</a:t>
            </a:r>
            <a:endParaRPr lang="zh-CN" altLang="en-US" sz="170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括图书）、供货商、客户（包括会员）、销售记录及统计数据。</a:t>
            </a:r>
            <a:endParaRPr lang="zh-CN" altLang="en-US" sz="170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在功能上，系统不仅满足日常数据录入、修改、查询和维护需求，还具备销售统计、库存预警、热销商品分析、会员消费分析等数据分析能力，帮助管理人员及时掌握经营状况并辅助决策。考虑到系统涉及客户和会员个人信息，项目在设计中注重用户权限控制与数据安全保护，通过角色划分限制不同用户的功能访问范围。同时，系统还设置必要的数据验证机制，减少错误输入和无效数据，提高数据库整体质量。</a:t>
            </a:r>
            <a:endParaRPr lang="zh-CN" altLang="en-US" sz="170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任务分工</a:t>
            </a:r>
            <a:r>
              <a:rPr lang="en-US" altLang="zh-CN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：</a:t>
            </a:r>
            <a:endParaRPr lang="en-US" altLang="zh-CN" sz="170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数据库设计</a:t>
            </a:r>
            <a:r>
              <a:rPr lang="en-US" altLang="zh-CN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 </a:t>
            </a:r>
            <a:r>
              <a:rPr lang="zh-CN" altLang="en-US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前端</a:t>
            </a:r>
            <a:r>
              <a:rPr lang="en-US" altLang="zh-CN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 </a:t>
            </a:r>
            <a:r>
              <a:rPr lang="zh-CN" altLang="en-US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后段</a:t>
            </a:r>
            <a:r>
              <a:rPr lang="en-US" altLang="zh-CN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 </a:t>
            </a:r>
            <a:r>
              <a:rPr lang="zh-CN" altLang="en-US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手册</a:t>
            </a:r>
            <a:r>
              <a:rPr lang="zh-CN" altLang="en-US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文档与</a:t>
            </a:r>
            <a:r>
              <a:rPr lang="en-US" altLang="zh-CN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PPT</a:t>
            </a:r>
            <a:endParaRPr lang="en-US" altLang="zh-CN" sz="170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indent="0">
              <a:buNone/>
            </a:pPr>
            <a:endParaRPr lang="en-US" altLang="zh-CN" sz="150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>
            <a:normAutofit fontScale="87500"/>
          </a:bodyPr>
          <a:lstStyle/>
          <a:p>
            <a:r>
              <a:rPr lang="zh-CN" altLang="en-US"/>
              <a:t>0</a:t>
            </a:r>
            <a:r>
              <a:t>2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需求分析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noFill/>
        </p:spPr>
        <p:txBody>
          <a:bodyPr vert="horz" wrap="square" lIns="107950" tIns="0" rIns="9144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>
                <a:latin typeface="+mj-lt"/>
                <a:ea typeface="+mj-lt"/>
                <a:sym typeface="+mn-ea"/>
              </a:rPr>
              <a:t>需求分析</a:t>
            </a:r>
            <a:endParaRPr>
              <a:latin typeface="+mj-lt"/>
              <a:ea typeface="+mj-lt"/>
              <a:sym typeface="+mn-ea"/>
            </a:endParaRPr>
          </a:p>
        </p:txBody>
      </p:sp>
      <p:sp>
        <p:nvSpPr>
          <p:cNvPr id="10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259205"/>
            <a:ext cx="10800080" cy="720090"/>
          </a:xfrm>
          <a:prstGeom prst="rect">
            <a:avLst/>
          </a:prstGeom>
        </p:spPr>
        <p:txBody>
          <a:bodyPr vert="horz" wrap="square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b="1" spc="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业务范围梳理</a:t>
            </a:r>
            <a:r>
              <a:rPr lang="en-US" altLang="zh-CN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：</a:t>
            </a:r>
            <a:r>
              <a:rPr lang="zh-CN" altLang="en-US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网上综合书店业务覆盖门店销售、图书商品、供应链协作、客户会员运营等场景</a:t>
            </a:r>
            <a:r>
              <a:rPr lang="en-US" altLang="zh-CN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，</a:t>
            </a:r>
            <a:r>
              <a:rPr lang="zh-CN" altLang="en-US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所以根据实际列出了如下</a:t>
            </a:r>
            <a:r>
              <a:rPr lang="en-US" altLang="zh-CN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8</a:t>
            </a:r>
            <a:r>
              <a:rPr lang="zh-CN" altLang="en-US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个管理模块</a:t>
            </a:r>
            <a:r>
              <a:rPr lang="en-US" altLang="zh-CN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，</a:t>
            </a:r>
            <a:r>
              <a:rPr lang="zh-CN" altLang="en-US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下表展示了他们的业务内容和主要数据关注点</a:t>
            </a:r>
            <a:r>
              <a:rPr lang="en-US" altLang="zh-CN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。</a:t>
            </a:r>
            <a:endParaRPr lang="zh-CN" altLang="en-US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zh-CN" altLang="en-US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853440" y="2151380"/>
          <a:ext cx="10657205" cy="2924175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667125"/>
              </a:tblGrid>
              <a:tr h="0">
                <a:tc>
                  <a:txBody>
                    <a:bodyPr/>
                    <a:p>
                      <a:pPr marL="0" indent="0" latinLnBrk="0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模块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业务内容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数据关注点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门店管理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维护连锁门店信息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门店名称、城市、地址、电话、负责人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0515"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供应商管理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维护供货商及供货关系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供应商名称、联系人、电话、邮箱、合作状态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3855"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商品管理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维护可销售商品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商品名称、分类、计量单位、售价、库存、在售状态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图书管理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管理图书专有信息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ISBN</a:t>
                      </a: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、出版社、作者、译者、版次、页数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出版社管理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维护出版社信息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名称、联系人、电话、邮箱、地址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客户会员管理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管理客户与会员体系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客户姓名、联系方式、地址、会员等级、积分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销售管理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记录交易过程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销售主单、销售明细、支付方式、金额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统计分析支撑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为报表提供数据基础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销量、销售额、会员消费、商品热度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60" y="5395595"/>
            <a:ext cx="10800080" cy="3651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 fontScale="25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40000"/>
              </a:lnSpc>
              <a:buClrTx/>
              <a:buSzTx/>
            </a:pPr>
            <a:endParaRPr lang="zh-CN" altLang="en-US" sz="6400">
              <a:solidFill>
                <a:schemeClr val="tx1">
                  <a:lumMod val="65000"/>
                  <a:lumOff val="35000"/>
                </a:schemeClr>
              </a:solidFill>
              <a:latin typeface="新宋体" charset="0"/>
              <a:ea typeface="新宋体" charset="0"/>
              <a:cs typeface="新宋体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noFill/>
        </p:spPr>
        <p:txBody>
          <a:bodyPr vert="horz" wrap="square" lIns="107950" tIns="0" rIns="91440" bIns="0" rtlCol="0" anchor="b" anchorCtr="0">
            <a:normAutofit/>
          </a:bodyPr>
          <a:p>
            <a:pPr lvl="0" algn="l">
              <a:buClrTx/>
              <a:buSzTx/>
              <a:buFontTx/>
            </a:pPr>
            <a:r>
              <a:rPr>
                <a:latin typeface="+mj-lt"/>
                <a:ea typeface="+mj-lt"/>
                <a:sym typeface="+mn-ea"/>
              </a:rPr>
              <a:t>需求分析</a:t>
            </a:r>
            <a:endParaRPr>
              <a:latin typeface="+mj-lt"/>
              <a:ea typeface="+mj-lt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3615690" y="1080135"/>
          <a:ext cx="5951220" cy="5151120"/>
        </p:xfrm>
        <a:graphic>
          <a:graphicData uri="http://schemas.openxmlformats.org/drawingml/2006/table">
            <a:tbl>
              <a:tblPr/>
              <a:tblGrid>
                <a:gridCol w="1364615"/>
                <a:gridCol w="1699260"/>
                <a:gridCol w="2887345"/>
              </a:tblGrid>
              <a:tr h="0">
                <a:tc>
                  <a:txBody>
                    <a:bodyPr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实体名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中文含义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设计定位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Store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门店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销售发生地点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Supplier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供应商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商品供货主体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Category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商品分类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商品归类体系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Product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商品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通用可售卖对象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Book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图书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商品子类（图书特有字段）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Publisher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出版社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图书出版主体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Customer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客户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消费行为主体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Member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会员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客户子类（积分等级）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Sale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销售单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交易主记录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Sale_Item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销售明细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交易明细记录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Author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作者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图书创作者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Translator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译者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图书译者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107440" y="1348740"/>
            <a:ext cx="1819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uFillTx/>
                <a:latin typeface="新宋体" charset="0"/>
                <a:ea typeface="新宋体" charset="0"/>
                <a:cs typeface="新宋体" charset="0"/>
              </a:rPr>
              <a:t>主实体清单</a:t>
            </a:r>
            <a:r>
              <a:rPr lang="en-US" altLang="zh-CN" b="1">
                <a:uFillTx/>
                <a:latin typeface="新宋体" charset="0"/>
                <a:ea typeface="新宋体" charset="0"/>
                <a:cs typeface="新宋体" charset="0"/>
              </a:rPr>
              <a:t>：</a:t>
            </a:r>
            <a:endParaRPr lang="en-US" altLang="zh-CN" b="1">
              <a:uFillTx/>
              <a:latin typeface="新宋体" charset="0"/>
              <a:ea typeface="新宋体" charset="0"/>
              <a:cs typeface="新宋体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latin typeface="+mj-lt"/>
                <a:ea typeface="+mj-lt"/>
                <a:sym typeface="+mn-ea"/>
              </a:rPr>
              <a:t>需求分析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26135" y="1370330"/>
            <a:ext cx="5862955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仿宋" charset="0"/>
                <a:ea typeface="仿宋" charset="0"/>
                <a:cs typeface="仿宋" charset="0"/>
                <a:sym typeface="+mn-ea"/>
              </a:rPr>
              <a:t>本项目约定的</a:t>
            </a:r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数据库设计原则</a:t>
            </a:r>
            <a:r>
              <a:rPr lang="en-US" altLang="zh-CN" sz="2000">
                <a:latin typeface="仿宋" charset="0"/>
                <a:ea typeface="仿宋" charset="0"/>
                <a:cs typeface="仿宋" charset="0"/>
              </a:rPr>
              <a:t>：</a:t>
            </a:r>
            <a:endParaRPr lang="en-US" altLang="zh-CN" sz="2000">
              <a:latin typeface="仿宋" charset="0"/>
              <a:ea typeface="仿宋" charset="0"/>
              <a:cs typeface="仿宋" charset="0"/>
            </a:endParaRPr>
          </a:p>
          <a:p>
            <a:endParaRPr lang="en-US" altLang="zh-CN" sz="2000">
              <a:latin typeface="仿宋" charset="0"/>
              <a:ea typeface="仿宋" charset="0"/>
              <a:cs typeface="仿宋" charset="0"/>
            </a:endParaRPr>
          </a:p>
          <a:p>
            <a:r>
              <a:rPr lang="en-US" altLang="zh-CN" sz="2000">
                <a:latin typeface="仿宋" charset="0"/>
                <a:ea typeface="仿宋" charset="0"/>
                <a:cs typeface="仿宋" charset="0"/>
              </a:rPr>
              <a:t>1) </a:t>
            </a:r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规范性</a:t>
            </a:r>
            <a:endParaRPr lang="zh-CN" altLang="en-US" sz="2000">
              <a:latin typeface="仿宋" charset="0"/>
              <a:ea typeface="仿宋" charset="0"/>
              <a:cs typeface="仿宋" charset="0"/>
            </a:endParaRPr>
          </a:p>
          <a:p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满足第三范式（</a:t>
            </a:r>
            <a:r>
              <a:rPr lang="en-US" altLang="zh-CN" sz="2000">
                <a:latin typeface="仿宋" charset="0"/>
                <a:ea typeface="仿宋" charset="0"/>
                <a:cs typeface="仿宋" charset="0"/>
              </a:rPr>
              <a:t>3NF</a:t>
            </a:r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）</a:t>
            </a:r>
            <a:endParaRPr lang="zh-CN" altLang="en-US" sz="2000">
              <a:latin typeface="仿宋" charset="0"/>
              <a:ea typeface="仿宋" charset="0"/>
              <a:cs typeface="仿宋" charset="0"/>
            </a:endParaRPr>
          </a:p>
          <a:p>
            <a:endParaRPr lang="zh-CN" altLang="en-US" sz="2000">
              <a:latin typeface="仿宋" charset="0"/>
              <a:ea typeface="仿宋" charset="0"/>
              <a:cs typeface="仿宋" charset="0"/>
            </a:endParaRPr>
          </a:p>
          <a:p>
            <a:r>
              <a:rPr lang="en-US" altLang="zh-CN" sz="2000">
                <a:latin typeface="仿宋" charset="0"/>
                <a:ea typeface="仿宋" charset="0"/>
                <a:cs typeface="仿宋" charset="0"/>
              </a:rPr>
              <a:t>2) </a:t>
            </a:r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可读性</a:t>
            </a:r>
            <a:endParaRPr lang="zh-CN" altLang="en-US" sz="2000">
              <a:latin typeface="仿宋" charset="0"/>
              <a:ea typeface="仿宋" charset="0"/>
              <a:cs typeface="仿宋" charset="0"/>
            </a:endParaRPr>
          </a:p>
          <a:p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统一使用</a:t>
            </a:r>
            <a:r>
              <a:rPr lang="en-US" altLang="zh-CN" sz="2000">
                <a:latin typeface="仿宋" charset="0"/>
                <a:ea typeface="仿宋" charset="0"/>
                <a:cs typeface="仿宋" charset="0"/>
              </a:rPr>
              <a:t> snake_case </a:t>
            </a:r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命名；</a:t>
            </a:r>
            <a:endParaRPr lang="zh-CN" altLang="en-US" sz="2000">
              <a:latin typeface="仿宋" charset="0"/>
              <a:ea typeface="仿宋" charset="0"/>
              <a:cs typeface="仿宋" charset="0"/>
            </a:endParaRPr>
          </a:p>
          <a:p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主键命名统一</a:t>
            </a:r>
            <a:r>
              <a:rPr lang="en-US" altLang="zh-CN" sz="2000">
                <a:latin typeface="仿宋" charset="0"/>
                <a:ea typeface="仿宋" charset="0"/>
                <a:cs typeface="仿宋" charset="0"/>
              </a:rPr>
              <a:t> xxx_id</a:t>
            </a:r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；</a:t>
            </a:r>
            <a:endParaRPr lang="zh-CN" altLang="en-US" sz="2000">
              <a:latin typeface="仿宋" charset="0"/>
              <a:ea typeface="仿宋" charset="0"/>
              <a:cs typeface="仿宋" charset="0"/>
            </a:endParaRPr>
          </a:p>
          <a:p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中间表命名统一</a:t>
            </a:r>
            <a:r>
              <a:rPr lang="en-US" altLang="zh-CN" sz="2000">
                <a:latin typeface="仿宋" charset="0"/>
                <a:ea typeface="仿宋" charset="0"/>
                <a:cs typeface="仿宋" charset="0"/>
              </a:rPr>
              <a:t> a_b</a:t>
            </a:r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。</a:t>
            </a:r>
            <a:endParaRPr lang="zh-CN" altLang="en-US" sz="2000">
              <a:latin typeface="仿宋" charset="0"/>
              <a:ea typeface="仿宋" charset="0"/>
              <a:cs typeface="仿宋" charset="0"/>
            </a:endParaRPr>
          </a:p>
          <a:p>
            <a:endParaRPr lang="zh-CN" altLang="en-US" sz="2000">
              <a:latin typeface="仿宋" charset="0"/>
              <a:ea typeface="仿宋" charset="0"/>
              <a:cs typeface="仿宋" charset="0"/>
            </a:endParaRPr>
          </a:p>
          <a:p>
            <a:r>
              <a:rPr lang="en-US" altLang="zh-CN" sz="2000">
                <a:latin typeface="仿宋" charset="0"/>
                <a:ea typeface="仿宋" charset="0"/>
                <a:cs typeface="仿宋" charset="0"/>
              </a:rPr>
              <a:t>3) </a:t>
            </a:r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可扩展性</a:t>
            </a:r>
            <a:endParaRPr lang="zh-CN" altLang="en-US" sz="2000">
              <a:latin typeface="仿宋" charset="0"/>
              <a:ea typeface="仿宋" charset="0"/>
              <a:cs typeface="仿宋" charset="0"/>
            </a:endParaRPr>
          </a:p>
          <a:p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支持后续增加新商品子类（如文创、电子书）；</a:t>
            </a:r>
            <a:endParaRPr lang="zh-CN" altLang="en-US" sz="2000">
              <a:latin typeface="仿宋" charset="0"/>
              <a:ea typeface="仿宋" charset="0"/>
              <a:cs typeface="仿宋" charset="0"/>
            </a:endParaRPr>
          </a:p>
          <a:p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支持新增营销、库存、报表模块而不重构主干模型。</a:t>
            </a:r>
            <a:endParaRPr lang="zh-CN" altLang="en-US" sz="2000">
              <a:latin typeface="仿宋" charset="0"/>
              <a:ea typeface="仿宋" charset="0"/>
              <a:cs typeface="仿宋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>
            <a:normAutofit fontScale="87500"/>
          </a:bodyPr>
          <a:lstStyle/>
          <a:p>
            <a:r>
              <a:rPr lang="zh-CN" altLang="en-US"/>
              <a:t>0</a:t>
            </a:r>
            <a:r>
              <a:t>3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数据库</a:t>
            </a:r>
            <a:r>
              <a:rPr lang="zh-CN" altLang="en-US"/>
              <a:t>设计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数据库</a:t>
            </a:r>
            <a:r>
              <a:rPr lang="zh-CN" altLang="en-US"/>
              <a:t>设计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929005" y="1685925"/>
          <a:ext cx="9090025" cy="4754880"/>
        </p:xfrm>
        <a:graphic>
          <a:graphicData uri="http://schemas.openxmlformats.org/drawingml/2006/table">
            <a:tbl>
              <a:tblPr/>
              <a:tblGrid>
                <a:gridCol w="3434715"/>
                <a:gridCol w="1504950"/>
                <a:gridCol w="4150360"/>
              </a:tblGrid>
              <a:tr h="0">
                <a:tc>
                  <a:txBody>
                    <a:bodyPr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关系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基数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业务含义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Store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 -&gt; 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Sale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1 : N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一个门店产生多笔销售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Customer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 -&gt; 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Sale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1 : N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（可空）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客户可多次购买，销售可为散客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Sale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 -&gt; 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Sale_Item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1 : N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一笔销售包含多条明细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Product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 -&gt; 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Sale_Item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1 : N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商品可出现在多笔明细中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Category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 -&gt; 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Product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1 : N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一个分类下有多个商品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Supplier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 &lt;-&gt; 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Product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N : N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多供应商供同商品、同供应商供多商品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Product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 -&gt; 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Book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1 : 0..1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仅图书类商品才有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 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Book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 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记录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Publisher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 -&gt; 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Book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1 : N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一个出版社可出版多本书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Book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 &lt;-&gt; 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Author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N : N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一本书可多作者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Book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 &lt;-&gt; 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Translator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N : N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一本书可多译者或无译者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Customer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 -&gt; 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Member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1 : 0..1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客户可升级为会员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819785" y="1144270"/>
            <a:ext cx="2378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 b="1">
                <a:uFillTx/>
                <a:latin typeface="新宋体" charset="0"/>
                <a:ea typeface="新宋体" charset="0"/>
                <a:cs typeface="新宋体" charset="0"/>
              </a:rPr>
              <a:t>主要关系基数</a:t>
            </a:r>
            <a:endParaRPr lang="zh-CN" altLang="en-US" sz="2800">
              <a:latin typeface="新宋体" charset="0"/>
              <a:ea typeface="新宋体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数据库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32460" y="1795145"/>
            <a:ext cx="3435985" cy="605155"/>
          </a:xfrm>
          <a:prstGeom prst="rect">
            <a:avLst/>
          </a:prstGeom>
        </p:spPr>
        <p:txBody>
          <a:bodyPr>
            <a:noAutofit/>
          </a:bodyPr>
          <a:p>
            <a:pPr marL="0" algn="l">
              <a:buClrTx/>
              <a:buSzTx/>
              <a:buFontTx/>
            </a:pPr>
            <a:r>
              <a:rPr lang="zh-CN" altLang="en-US" sz="1800" b="1" i="0">
                <a:solidFill>
                  <a:schemeClr val="tx1"/>
                </a:solidFill>
                <a:uFillTx/>
                <a:latin typeface="新宋体" charset="0"/>
                <a:ea typeface="新宋体" charset="0"/>
                <a:cs typeface="新宋体" charset="0"/>
              </a:rPr>
              <a:t>表清单总览与约束汇总：</a:t>
            </a:r>
            <a:endParaRPr lang="zh-CN" altLang="en-US" sz="1800" b="1" i="0">
              <a:solidFill>
                <a:schemeClr val="tx1"/>
              </a:solidFill>
              <a:uFillTx/>
              <a:latin typeface="新宋体" charset="0"/>
              <a:ea typeface="新宋体" charset="0"/>
              <a:cs typeface="新宋体" charset="0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5165725" y="219710"/>
          <a:ext cx="5400040" cy="5852160"/>
        </p:xfrm>
        <a:graphic>
          <a:graphicData uri="http://schemas.openxmlformats.org/drawingml/2006/table">
            <a:tbl>
              <a:tblPr/>
              <a:tblGrid>
                <a:gridCol w="1637030"/>
                <a:gridCol w="1266135"/>
                <a:gridCol w="2496820"/>
              </a:tblGrid>
              <a:tr h="365760">
                <a:tc>
                  <a:txBody>
                    <a:bodyPr/>
                    <a:p>
                      <a:r>
                        <a:rPr lang="zh-CN" altLang="en-US" sz="1100" b="1">
                          <a:latin typeface="新宋体" charset="0"/>
                          <a:ea typeface="新宋体" charset="0"/>
                        </a:rPr>
                        <a:t>表名</a:t>
                      </a:r>
                      <a:endParaRPr lang="zh-CN" altLang="en-US" sz="1100" b="1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100" b="1">
                          <a:latin typeface="新宋体" charset="0"/>
                          <a:ea typeface="新宋体" charset="0"/>
                        </a:rPr>
                        <a:t>中文</a:t>
                      </a:r>
                      <a:r>
                        <a:rPr lang="zh-CN" altLang="en-US" sz="1100" b="1">
                          <a:latin typeface="新宋体" charset="0"/>
                          <a:ea typeface="新宋体" charset="0"/>
                        </a:rPr>
                        <a:t>名</a:t>
                      </a:r>
                      <a:endParaRPr lang="zh-CN" altLang="en-US" sz="1100" b="1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 b="1">
                          <a:latin typeface="新宋体" charset="0"/>
                          <a:ea typeface="新宋体" charset="0"/>
                        </a:rPr>
                        <a:t>说明</a:t>
                      </a:r>
                      <a:endParaRPr lang="zh-CN" altLang="en-US" sz="1100" b="1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新宋体" charset="0"/>
                          <a:ea typeface="新宋体" charset="0"/>
                        </a:rPr>
                        <a:t>store</a:t>
                      </a:r>
                      <a:endParaRPr lang="en-US" altLang="zh-CN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门店</a:t>
                      </a: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表</a:t>
                      </a:r>
                      <a:endParaRPr lang="zh-CN" altLang="en-US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>
                          <a:latin typeface="新宋体" charset="0"/>
                          <a:ea typeface="新宋体" charset="0"/>
                        </a:rPr>
                        <a:t>门店信息</a:t>
                      </a:r>
                      <a:endParaRPr lang="zh-CN" altLang="en-US" sz="11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新宋体" charset="0"/>
                          <a:ea typeface="新宋体" charset="0"/>
                        </a:rPr>
                        <a:t>supplier</a:t>
                      </a:r>
                      <a:endParaRPr lang="en-US" altLang="zh-CN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供应商</a:t>
                      </a: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表</a:t>
                      </a:r>
                      <a:endParaRPr lang="zh-CN" altLang="en-US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>
                          <a:latin typeface="新宋体" charset="0"/>
                          <a:ea typeface="新宋体" charset="0"/>
                        </a:rPr>
                        <a:t>供应商信息</a:t>
                      </a:r>
                      <a:endParaRPr lang="zh-CN" altLang="en-US" sz="11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新宋体" charset="0"/>
                          <a:ea typeface="新宋体" charset="0"/>
                        </a:rPr>
                        <a:t>supplier_product</a:t>
                      </a:r>
                      <a:endParaRPr lang="en-US" altLang="zh-CN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供应商</a:t>
                      </a:r>
                      <a:r>
                        <a:rPr lang="en-US" altLang="zh-CN" sz="1400">
                          <a:latin typeface="新宋体" charset="0"/>
                          <a:ea typeface="新宋体" charset="0"/>
                        </a:rPr>
                        <a:t>-</a:t>
                      </a: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商品中间</a:t>
                      </a: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表</a:t>
                      </a:r>
                      <a:endParaRPr lang="zh-CN" altLang="en-US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>
                          <a:latin typeface="新宋体" charset="0"/>
                          <a:ea typeface="新宋体" charset="0"/>
                        </a:rPr>
                        <a:t>供货关系中间表</a:t>
                      </a:r>
                      <a:endParaRPr lang="zh-CN" altLang="en-US" sz="11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新宋体" charset="0"/>
                          <a:ea typeface="新宋体" charset="0"/>
                        </a:rPr>
                        <a:t>category</a:t>
                      </a:r>
                      <a:endParaRPr lang="en-US" altLang="zh-CN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商品分类</a:t>
                      </a: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表</a:t>
                      </a:r>
                      <a:endParaRPr lang="zh-CN" altLang="en-US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>
                          <a:latin typeface="新宋体" charset="0"/>
                          <a:ea typeface="新宋体" charset="0"/>
                        </a:rPr>
                        <a:t>商品分类</a:t>
                      </a:r>
                      <a:endParaRPr lang="zh-CN" altLang="en-US" sz="11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新宋体" charset="0"/>
                          <a:ea typeface="新宋体" charset="0"/>
                        </a:rPr>
                        <a:t>product</a:t>
                      </a:r>
                      <a:endParaRPr lang="en-US" altLang="zh-CN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商品父</a:t>
                      </a: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表</a:t>
                      </a:r>
                      <a:endParaRPr lang="zh-CN" altLang="en-US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>
                          <a:latin typeface="新宋体" charset="0"/>
                          <a:ea typeface="新宋体" charset="0"/>
                        </a:rPr>
                        <a:t>商品父表（通用字段）</a:t>
                      </a:r>
                      <a:endParaRPr lang="zh-CN" altLang="en-US" sz="11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新宋体" charset="0"/>
                          <a:ea typeface="新宋体" charset="0"/>
                        </a:rPr>
                        <a:t>book</a:t>
                      </a:r>
                      <a:endParaRPr lang="en-US" altLang="zh-CN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图书</a:t>
                      </a: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子表</a:t>
                      </a:r>
                      <a:endParaRPr lang="zh-CN" altLang="en-US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>
                          <a:latin typeface="新宋体" charset="0"/>
                          <a:ea typeface="新宋体" charset="0"/>
                        </a:rPr>
                        <a:t>图书子表（专有字段）</a:t>
                      </a:r>
                      <a:endParaRPr lang="zh-CN" altLang="en-US" sz="11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新宋体" charset="0"/>
                          <a:ea typeface="新宋体" charset="0"/>
                        </a:rPr>
                        <a:t>publisher</a:t>
                      </a:r>
                      <a:endParaRPr lang="en-US" altLang="zh-CN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出版社</a:t>
                      </a: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表</a:t>
                      </a:r>
                      <a:endParaRPr lang="zh-CN" altLang="en-US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/>
                </a:tc>
                <a:tc>
                  <a:txBody>
                    <a:bodyPr/>
                    <a:p>
                      <a:r>
                        <a:rPr lang="zh-CN" altLang="en-US" sz="1100">
                          <a:latin typeface="新宋体" charset="0"/>
                          <a:ea typeface="新宋体" charset="0"/>
                        </a:rPr>
                        <a:t>出版社信息</a:t>
                      </a:r>
                      <a:endParaRPr lang="zh-CN" altLang="en-US" sz="11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新宋体" charset="0"/>
                          <a:ea typeface="新宋体" charset="0"/>
                        </a:rPr>
                        <a:t>author</a:t>
                      </a:r>
                      <a:endParaRPr lang="en-US" altLang="zh-CN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作者</a:t>
                      </a: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表</a:t>
                      </a:r>
                      <a:endParaRPr lang="zh-CN" altLang="en-US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/>
                </a:tc>
                <a:tc>
                  <a:txBody>
                    <a:bodyPr/>
                    <a:p>
                      <a:r>
                        <a:rPr lang="zh-CN" altLang="en-US" sz="1100">
                          <a:latin typeface="新宋体" charset="0"/>
                          <a:ea typeface="新宋体" charset="0"/>
                        </a:rPr>
                        <a:t>作者信息</a:t>
                      </a:r>
                      <a:endParaRPr lang="zh-CN" altLang="en-US" sz="11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新宋体" charset="0"/>
                          <a:ea typeface="新宋体" charset="0"/>
                        </a:rPr>
                        <a:t>translator</a:t>
                      </a:r>
                      <a:endParaRPr lang="en-US" altLang="zh-CN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译者</a:t>
                      </a: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表</a:t>
                      </a:r>
                      <a:endParaRPr lang="zh-CN" altLang="en-US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/>
                </a:tc>
                <a:tc>
                  <a:txBody>
                    <a:bodyPr/>
                    <a:p>
                      <a:r>
                        <a:rPr lang="zh-CN" altLang="en-US" sz="1100">
                          <a:latin typeface="新宋体" charset="0"/>
                          <a:ea typeface="新宋体" charset="0"/>
                        </a:rPr>
                        <a:t>译者信息</a:t>
                      </a:r>
                      <a:endParaRPr lang="zh-CN" altLang="en-US" sz="11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新宋体" charset="0"/>
                          <a:ea typeface="新宋体" charset="0"/>
                        </a:rPr>
                        <a:t>book_author</a:t>
                      </a:r>
                      <a:endParaRPr lang="en-US" altLang="zh-CN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图书</a:t>
                      </a:r>
                      <a:r>
                        <a:rPr lang="en-US" altLang="zh-CN" sz="1400">
                          <a:latin typeface="新宋体" charset="0"/>
                          <a:ea typeface="新宋体" charset="0"/>
                        </a:rPr>
                        <a:t>-</a:t>
                      </a: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作者中间</a:t>
                      </a: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表</a:t>
                      </a:r>
                      <a:endParaRPr lang="zh-CN" altLang="en-US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/>
                </a:tc>
                <a:tc>
                  <a:txBody>
                    <a:bodyPr/>
                    <a:p>
                      <a:r>
                        <a:rPr lang="zh-CN" altLang="en-US" sz="1100">
                          <a:latin typeface="新宋体" charset="0"/>
                          <a:ea typeface="新宋体" charset="0"/>
                          <a:cs typeface="新宋体" charset="0"/>
                        </a:rPr>
                        <a:t>图书</a:t>
                      </a:r>
                      <a:r>
                        <a:rPr lang="en-US" altLang="zh-CN" sz="1100">
                          <a:latin typeface="新宋体" charset="0"/>
                          <a:ea typeface="新宋体" charset="0"/>
                          <a:cs typeface="新宋体" charset="0"/>
                        </a:rPr>
                        <a:t>-</a:t>
                      </a:r>
                      <a:r>
                        <a:rPr lang="zh-CN" altLang="en-US" sz="1100">
                          <a:latin typeface="新宋体" charset="0"/>
                          <a:ea typeface="新宋体" charset="0"/>
                          <a:cs typeface="新宋体" charset="0"/>
                        </a:rPr>
                        <a:t>作者中间表</a:t>
                      </a:r>
                      <a:endParaRPr lang="zh-CN" altLang="en-US" sz="1100">
                        <a:latin typeface="新宋体" charset="0"/>
                        <a:ea typeface="新宋体" charset="0"/>
                        <a:cs typeface="新宋体" charset="0"/>
                      </a:endParaRPr>
                    </a:p>
                  </a:txBody>
                  <a:tcPr marL="165417" marR="165417" marT="76517" marB="7651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新宋体" charset="0"/>
                          <a:ea typeface="新宋体" charset="0"/>
                        </a:rPr>
                        <a:t>book_translator</a:t>
                      </a:r>
                      <a:endParaRPr lang="en-US" altLang="zh-CN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图书</a:t>
                      </a:r>
                      <a:r>
                        <a:rPr lang="en-US" altLang="zh-CN" sz="1400">
                          <a:latin typeface="新宋体" charset="0"/>
                          <a:ea typeface="新宋体" charset="0"/>
                        </a:rPr>
                        <a:t>-</a:t>
                      </a: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译者中间</a:t>
                      </a: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表</a:t>
                      </a:r>
                      <a:endParaRPr lang="zh-CN" altLang="en-US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/>
                </a:tc>
                <a:tc>
                  <a:txBody>
                    <a:bodyPr/>
                    <a:p>
                      <a:r>
                        <a:rPr lang="zh-CN" altLang="en-US" sz="1100">
                          <a:latin typeface="新宋体" charset="0"/>
                          <a:ea typeface="新宋体" charset="0"/>
                          <a:cs typeface="新宋体" charset="0"/>
                        </a:rPr>
                        <a:t>图书</a:t>
                      </a:r>
                      <a:r>
                        <a:rPr lang="en-US" altLang="zh-CN" sz="1100">
                          <a:latin typeface="新宋体" charset="0"/>
                          <a:ea typeface="新宋体" charset="0"/>
                          <a:cs typeface="新宋体" charset="0"/>
                        </a:rPr>
                        <a:t>-</a:t>
                      </a:r>
                      <a:r>
                        <a:rPr lang="zh-CN" altLang="en-US" sz="1100">
                          <a:latin typeface="新宋体" charset="0"/>
                          <a:ea typeface="新宋体" charset="0"/>
                          <a:cs typeface="新宋体" charset="0"/>
                        </a:rPr>
                        <a:t>译者中间表</a:t>
                      </a:r>
                      <a:endParaRPr lang="zh-CN" altLang="en-US" sz="1100">
                        <a:latin typeface="新宋体" charset="0"/>
                        <a:ea typeface="新宋体" charset="0"/>
                        <a:cs typeface="新宋体" charset="0"/>
                      </a:endParaRPr>
                    </a:p>
                  </a:txBody>
                  <a:tcPr marL="165417" marR="165417" marT="76517" marB="7651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新宋体" charset="0"/>
                          <a:ea typeface="新宋体" charset="0"/>
                        </a:rPr>
                        <a:t>customer</a:t>
                      </a:r>
                      <a:endParaRPr lang="en-US" altLang="zh-CN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客户</a:t>
                      </a: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表</a:t>
                      </a:r>
                      <a:endParaRPr lang="zh-CN" altLang="en-US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/>
                </a:tc>
                <a:tc>
                  <a:txBody>
                    <a:bodyPr/>
                    <a:p>
                      <a:r>
                        <a:rPr lang="zh-CN" altLang="en-US" sz="1100">
                          <a:latin typeface="新宋体" charset="0"/>
                          <a:ea typeface="新宋体" charset="0"/>
                        </a:rPr>
                        <a:t>客户信息</a:t>
                      </a:r>
                      <a:endParaRPr lang="zh-CN" altLang="en-US" sz="11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新宋体" charset="0"/>
                          <a:ea typeface="新宋体" charset="0"/>
                        </a:rPr>
                        <a:t>member</a:t>
                      </a:r>
                      <a:endParaRPr lang="en-US" altLang="zh-CN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会员子</a:t>
                      </a: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表</a:t>
                      </a:r>
                      <a:endParaRPr lang="zh-CN" altLang="en-US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/>
                </a:tc>
                <a:tc>
                  <a:txBody>
                    <a:bodyPr/>
                    <a:p>
                      <a:r>
                        <a:rPr lang="zh-CN" altLang="en-US" sz="1100">
                          <a:latin typeface="新宋体" charset="0"/>
                          <a:ea typeface="新宋体" charset="0"/>
                        </a:rPr>
                        <a:t>会员子表</a:t>
                      </a:r>
                      <a:endParaRPr lang="zh-CN" altLang="en-US" sz="11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新宋体" charset="0"/>
                          <a:ea typeface="新宋体" charset="0"/>
                        </a:rPr>
                        <a:t>sale</a:t>
                      </a:r>
                      <a:endParaRPr lang="en-US" altLang="zh-CN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销售主</a:t>
                      </a: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单</a:t>
                      </a:r>
                      <a:endParaRPr lang="zh-CN" altLang="en-US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/>
                </a:tc>
                <a:tc>
                  <a:txBody>
                    <a:bodyPr/>
                    <a:p>
                      <a:r>
                        <a:rPr lang="zh-CN" altLang="en-US" sz="1100">
                          <a:latin typeface="新宋体" charset="0"/>
                          <a:ea typeface="新宋体" charset="0"/>
                        </a:rPr>
                        <a:t>销售主单</a:t>
                      </a:r>
                      <a:endParaRPr lang="zh-CN" altLang="en-US" sz="11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新宋体" charset="0"/>
                          <a:ea typeface="新宋体" charset="0"/>
                        </a:rPr>
                        <a:t>sale_item</a:t>
                      </a:r>
                      <a:endParaRPr lang="en-US" altLang="zh-CN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销售</a:t>
                      </a:r>
                      <a:r>
                        <a:rPr lang="zh-CN" altLang="en-US" sz="1400">
                          <a:latin typeface="新宋体" charset="0"/>
                          <a:ea typeface="新宋体" charset="0"/>
                        </a:rPr>
                        <a:t>明细</a:t>
                      </a:r>
                      <a:endParaRPr lang="zh-CN" altLang="en-US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/>
                </a:tc>
                <a:tc>
                  <a:txBody>
                    <a:bodyPr/>
                    <a:p>
                      <a:r>
                        <a:rPr lang="zh-CN" altLang="en-US" sz="1100">
                          <a:latin typeface="新宋体" charset="0"/>
                          <a:ea typeface="新宋体" charset="0"/>
                        </a:rPr>
                        <a:t>销售明细</a:t>
                      </a:r>
                      <a:endParaRPr lang="zh-CN" altLang="en-US" sz="11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/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/>
        </p:nvGraphicFramePr>
        <p:xfrm>
          <a:off x="853440" y="2400300"/>
          <a:ext cx="2951480" cy="2987040"/>
        </p:xfrm>
        <a:graphic>
          <a:graphicData uri="http://schemas.openxmlformats.org/drawingml/2006/table">
            <a:tbl>
              <a:tblPr/>
              <a:tblGrid>
                <a:gridCol w="889000"/>
                <a:gridCol w="2062480"/>
              </a:tblGrid>
              <a:tr h="0"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</a:rPr>
                        <a:t>约束类型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</a:rPr>
                        <a:t>设计策略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</a:rPr>
                        <a:t>主键约束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  <a:cs typeface="新宋体" charset="0"/>
                        </a:rPr>
                        <a:t>每表设置主键，子表使用共享主键（</a:t>
                      </a:r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  <a:cs typeface="新宋体" charset="0"/>
                        </a:rPr>
                        <a:t>book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  <a:cs typeface="新宋体" charset="0"/>
                        </a:rPr>
                        <a:t>、</a:t>
                      </a:r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  <a:cs typeface="新宋体" charset="0"/>
                        </a:rPr>
                        <a:t>member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  <a:cs typeface="新宋体" charset="0"/>
                        </a:rPr>
                        <a:t>）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新宋体" charset="0"/>
                        <a:ea typeface="新宋体" charset="0"/>
                        <a:cs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</a:rPr>
                        <a:t>外键约束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</a:rPr>
                        <a:t>实体关系全部外键化，防止孤儿数据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</a:rPr>
                        <a:t>唯一约束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  <a:cs typeface="新宋体" charset="0"/>
                        </a:rPr>
                        <a:t>ISBN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  <a:cs typeface="新宋体" charset="0"/>
                        </a:rPr>
                        <a:t>、会员编号、分类名、门店名等关键字段唯一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新宋体" charset="0"/>
                        <a:ea typeface="新宋体" charset="0"/>
                        <a:cs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</a:rPr>
                        <a:t>非空约束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  <a:cs typeface="新宋体" charset="0"/>
                        </a:rPr>
                        <a:t>必填业务字段统一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  <a:cs typeface="新宋体" charset="0"/>
                        </a:rPr>
                        <a:t> </a:t>
                      </a:r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  <a:cs typeface="新宋体" charset="0"/>
                        </a:rPr>
                        <a:t>NOT NULL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新宋体" charset="0"/>
                        <a:ea typeface="新宋体" charset="0"/>
                        <a:cs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</a:rPr>
                        <a:t>检查约束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  <a:cs typeface="新宋体" charset="0"/>
                        </a:rPr>
                        <a:t>价格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  <a:cs typeface="新宋体" charset="0"/>
                        </a:rPr>
                        <a:t> </a:t>
                      </a:r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  <a:cs typeface="新宋体" charset="0"/>
                        </a:rPr>
                        <a:t>&gt;0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  <a:cs typeface="新宋体" charset="0"/>
                        </a:rPr>
                        <a:t>、库存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  <a:cs typeface="新宋体" charset="0"/>
                        </a:rPr>
                        <a:t> </a:t>
                      </a:r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  <a:cs typeface="新宋体" charset="0"/>
                        </a:rPr>
                        <a:t>&gt;=0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  <a:cs typeface="新宋体" charset="0"/>
                        </a:rPr>
                        <a:t>、销售数量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  <a:cs typeface="新宋体" charset="0"/>
                        </a:rPr>
                        <a:t> </a:t>
                      </a:r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  <a:cs typeface="新宋体" charset="0"/>
                        </a:rPr>
                        <a:t>&gt;0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  <a:cs typeface="新宋体" charset="0"/>
                        </a:rPr>
                        <a:t>、金额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  <a:cs typeface="新宋体" charset="0"/>
                        </a:rPr>
                        <a:t>/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  <a:cs typeface="新宋体" charset="0"/>
                        </a:rPr>
                        <a:t>积分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  <a:cs typeface="新宋体" charset="0"/>
                        </a:rPr>
                        <a:t> </a:t>
                      </a:r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新宋体" charset="0"/>
                          <a:ea typeface="新宋体" charset="0"/>
                          <a:cs typeface="新宋体" charset="0"/>
                        </a:rPr>
                        <a:t>&gt;=0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新宋体" charset="0"/>
                        <a:ea typeface="新宋体" charset="0"/>
                        <a:cs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>
            <a:normAutofit fontScale="87500"/>
          </a:bodyPr>
          <a:lstStyle/>
          <a:p>
            <a:r>
              <a:rPr lang="zh-CN" altLang="en-US"/>
              <a:t>0</a:t>
            </a:r>
            <a:r>
              <a:t>4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模型图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noFill/>
        </p:spPr>
        <p:txBody>
          <a:bodyPr vert="horz" wrap="square" lIns="107950" tIns="0" rIns="9144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模型图</a:t>
            </a:r>
            <a:endParaRPr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56870" y="1321435"/>
            <a:ext cx="5080000" cy="4092575"/>
          </a:xfrm>
          <a:prstGeom prst="rect">
            <a:avLst/>
          </a:prstGeom>
        </p:spPr>
        <p:txBody>
          <a:bodyPr>
            <a:spAutoFit/>
          </a:bodyPr>
          <a:p>
            <a:pPr marL="0" algn="l">
              <a:spcBef>
                <a:spcPts val="200"/>
              </a:spcBef>
              <a:buClrTx/>
              <a:buSzTx/>
              <a:buFont typeface="Arial" panose="020B0604020202090204"/>
              <a:buChar char="•"/>
            </a:pPr>
            <a:r>
              <a:rPr lang="en-US" altLang="zh-CN" sz="1600" b="0" i="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根据15张表内容，为了方便理解、阅读和展示，画出4张E-R图子图。</a:t>
            </a:r>
            <a:endParaRPr lang="en-US" altLang="zh-CN" sz="1600" b="0" i="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algn="l">
              <a:spcBef>
                <a:spcPts val="200"/>
              </a:spcBef>
              <a:buClrTx/>
              <a:buSzTx/>
              <a:buFont typeface="Arial" panose="020B0604020202090204"/>
              <a:buChar char="•"/>
            </a:pPr>
            <a:endParaRPr lang="en-US" altLang="zh-CN" sz="1600" b="0" i="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algn="l">
              <a:spcBef>
                <a:spcPts val="200"/>
              </a:spcBef>
              <a:buClrTx/>
              <a:buSzTx/>
              <a:buFont typeface="Arial" panose="020B0604020202090204"/>
              <a:buChar char="•"/>
            </a:pPr>
            <a:r>
              <a:rPr lang="en-US" altLang="zh-CN" sz="1600" b="0" i="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E-R图说明：</a:t>
            </a:r>
            <a:endParaRPr lang="en-US" altLang="zh-CN" sz="1600" b="0" i="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algn="l">
              <a:spcBef>
                <a:spcPts val="200"/>
              </a:spcBef>
              <a:buClrTx/>
              <a:buSzTx/>
              <a:buFont typeface="Arial" panose="020B0604020202090204"/>
              <a:buChar char="•"/>
            </a:pPr>
            <a:r>
              <a:rPr lang="en-US" altLang="zh-CN" sz="1600" b="0" i="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实体（Entity）：矩形框</a:t>
            </a:r>
            <a:endParaRPr lang="en-US" altLang="zh-CN" sz="1600" b="0" i="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algn="l">
              <a:spcBef>
                <a:spcPts val="200"/>
              </a:spcBef>
              <a:buClrTx/>
              <a:buSzTx/>
              <a:buFont typeface="Arial" panose="020B0604020202090204"/>
              <a:buChar char="•"/>
            </a:pPr>
            <a:r>
              <a:rPr lang="en-US" altLang="zh-CN" sz="1600" b="0" i="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属性（Attribute）：椭圆（本图用圆角节点近似）</a:t>
            </a:r>
            <a:endParaRPr lang="en-US" altLang="zh-CN" sz="1600" b="0" i="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algn="l">
              <a:spcBef>
                <a:spcPts val="200"/>
              </a:spcBef>
              <a:buClrTx/>
              <a:buSzTx/>
              <a:buFont typeface="Arial" panose="020B0604020202090204"/>
              <a:buChar char="•"/>
            </a:pPr>
            <a:r>
              <a:rPr lang="en-US" altLang="zh-CN" sz="1600" b="0" i="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联系（Relationship）：菱形</a:t>
            </a:r>
            <a:endParaRPr lang="en-US" altLang="zh-CN" sz="1600" b="0" i="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algn="l">
              <a:spcBef>
                <a:spcPts val="200"/>
              </a:spcBef>
              <a:buClrTx/>
              <a:buSzTx/>
              <a:buFont typeface="Arial" panose="020B0604020202090204"/>
              <a:buChar char="•"/>
            </a:pPr>
            <a:r>
              <a:rPr lang="en-US" altLang="zh-CN" sz="1600" b="0" i="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基数（Cardinality）：连线旁标注 1、N</a:t>
            </a:r>
            <a:r>
              <a:rPr lang="en-US" altLang="zh-CN" sz="1600" b="0" i="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、0..1</a:t>
            </a:r>
            <a:endParaRPr lang="en-US" altLang="zh-CN" sz="1600" b="0" i="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endParaRPr lang="en-US" altLang="zh-CN" sz="1600" b="0" i="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endParaRPr lang="en-US" altLang="zh-CN" sz="1600" b="0" i="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endParaRPr lang="en-US" altLang="zh-CN" sz="1600" b="0" i="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右图</a:t>
            </a:r>
            <a:r>
              <a:rPr lang="en-US" altLang="zh-CN" sz="1600" b="0" i="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：</a:t>
            </a:r>
            <a:r>
              <a:rPr lang="zh-CN" altLang="en-US" sz="1600" b="0" i="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子图</a:t>
            </a:r>
            <a:r>
              <a:rPr lang="en-US" altLang="zh-CN" sz="1600" b="0" i="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 A</a:t>
            </a:r>
            <a:endParaRPr lang="en-US" altLang="zh-CN" sz="1600" b="0" i="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endParaRPr lang="en-US" altLang="zh-CN" sz="1600" b="0" i="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子图</a:t>
            </a:r>
            <a:r>
              <a:rPr lang="en-US" altLang="zh-CN" sz="1600" b="0" i="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 A </a:t>
            </a:r>
            <a:r>
              <a:rPr lang="zh-CN" altLang="en-US" sz="1600" b="0" i="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主要展示销售业务主链路，包括门店、客户、会员、销售主单、销售明细与商品之间的关系。</a:t>
            </a:r>
            <a:endParaRPr lang="zh-CN" altLang="en-US" sz="1600" b="0" i="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</p:txBody>
      </p:sp>
      <p:pic>
        <p:nvPicPr>
          <p:cNvPr id="2" name="图片 1" descr="截屏2026-05-05 18.42.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140" y="0"/>
            <a:ext cx="6372860" cy="6858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模型图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967105" y="1928495"/>
            <a:ext cx="303149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仿宋" charset="0"/>
                <a:ea typeface="仿宋" charset="0"/>
                <a:cs typeface="仿宋" charset="0"/>
              </a:rPr>
              <a:t>子图</a:t>
            </a:r>
            <a:r>
              <a:rPr lang="en-US" altLang="zh-CN">
                <a:latin typeface="仿宋" charset="0"/>
                <a:ea typeface="仿宋" charset="0"/>
                <a:cs typeface="仿宋" charset="0"/>
              </a:rPr>
              <a:t> B</a:t>
            </a:r>
            <a:endParaRPr lang="en-US" altLang="zh-CN">
              <a:latin typeface="仿宋" charset="0"/>
              <a:ea typeface="仿宋" charset="0"/>
              <a:cs typeface="仿宋" charset="0"/>
            </a:endParaRPr>
          </a:p>
          <a:p>
            <a:endParaRPr lang="en-US" altLang="zh-CN">
              <a:latin typeface="仿宋" charset="0"/>
              <a:ea typeface="仿宋" charset="0"/>
              <a:cs typeface="仿宋" charset="0"/>
            </a:endParaRPr>
          </a:p>
          <a:p>
            <a:r>
              <a:rPr lang="zh-CN" altLang="en-US">
                <a:latin typeface="仿宋" charset="0"/>
                <a:ea typeface="仿宋" charset="0"/>
                <a:cs typeface="仿宋" charset="0"/>
              </a:rPr>
              <a:t>子图</a:t>
            </a:r>
            <a:r>
              <a:rPr lang="en-US" altLang="zh-CN">
                <a:latin typeface="仿宋" charset="0"/>
                <a:ea typeface="仿宋" charset="0"/>
                <a:cs typeface="仿宋" charset="0"/>
              </a:rPr>
              <a:t> B </a:t>
            </a:r>
            <a:r>
              <a:rPr lang="zh-CN" altLang="en-US">
                <a:latin typeface="仿宋" charset="0"/>
                <a:ea typeface="仿宋" charset="0"/>
                <a:cs typeface="仿宋" charset="0"/>
              </a:rPr>
              <a:t>主要展示商品域的核心结构，包括商品分类、商品父类、图书子类以及出版社之间的关系。</a:t>
            </a:r>
            <a:endParaRPr lang="zh-CN" altLang="en-US">
              <a:latin typeface="仿宋" charset="0"/>
              <a:ea typeface="仿宋" charset="0"/>
              <a:cs typeface="仿宋" charset="0"/>
            </a:endParaRPr>
          </a:p>
        </p:txBody>
      </p:sp>
      <p:pic>
        <p:nvPicPr>
          <p:cNvPr id="4" name="图片 3" descr="截屏2026-05-05 18.42.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4990" y="0"/>
            <a:ext cx="574421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模型图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963295" y="1774190"/>
            <a:ext cx="286639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仿宋" charset="0"/>
                <a:ea typeface="仿宋" charset="0"/>
                <a:cs typeface="仿宋" charset="0"/>
              </a:rPr>
              <a:t>子图</a:t>
            </a:r>
            <a:r>
              <a:rPr lang="en-US" altLang="zh-CN">
                <a:latin typeface="仿宋" charset="0"/>
                <a:ea typeface="仿宋" charset="0"/>
                <a:cs typeface="仿宋" charset="0"/>
              </a:rPr>
              <a:t> C</a:t>
            </a:r>
            <a:endParaRPr lang="en-US" altLang="zh-CN">
              <a:latin typeface="仿宋" charset="0"/>
              <a:ea typeface="仿宋" charset="0"/>
              <a:cs typeface="仿宋" charset="0"/>
            </a:endParaRPr>
          </a:p>
          <a:p>
            <a:endParaRPr lang="en-US" altLang="zh-CN">
              <a:latin typeface="仿宋" charset="0"/>
              <a:ea typeface="仿宋" charset="0"/>
              <a:cs typeface="仿宋" charset="0"/>
            </a:endParaRPr>
          </a:p>
          <a:p>
            <a:r>
              <a:rPr lang="zh-CN" altLang="en-US">
                <a:latin typeface="仿宋" charset="0"/>
                <a:ea typeface="仿宋" charset="0"/>
                <a:cs typeface="仿宋" charset="0"/>
              </a:rPr>
              <a:t>子图</a:t>
            </a:r>
            <a:r>
              <a:rPr lang="en-US" altLang="zh-CN">
                <a:latin typeface="仿宋" charset="0"/>
                <a:ea typeface="仿宋" charset="0"/>
                <a:cs typeface="仿宋" charset="0"/>
              </a:rPr>
              <a:t> C </a:t>
            </a:r>
            <a:r>
              <a:rPr lang="zh-CN" altLang="en-US">
                <a:latin typeface="仿宋" charset="0"/>
                <a:ea typeface="仿宋" charset="0"/>
                <a:cs typeface="仿宋" charset="0"/>
              </a:rPr>
              <a:t>主要展示图书与作者、译者之间的多对多关系。</a:t>
            </a:r>
            <a:endParaRPr lang="zh-CN" altLang="en-US">
              <a:latin typeface="仿宋" charset="0"/>
              <a:ea typeface="仿宋" charset="0"/>
              <a:cs typeface="仿宋" charset="0"/>
            </a:endParaRPr>
          </a:p>
        </p:txBody>
      </p:sp>
      <p:pic>
        <p:nvPicPr>
          <p:cNvPr id="3" name="图片 2" descr="截屏2026-05-05 18.43.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0695" y="0"/>
            <a:ext cx="593534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模型图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938530" y="1952625"/>
            <a:ext cx="21082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仿宋" charset="0"/>
                <a:ea typeface="仿宋" charset="0"/>
                <a:cs typeface="仿宋" charset="0"/>
              </a:rPr>
              <a:t>子图</a:t>
            </a:r>
            <a:r>
              <a:rPr lang="en-US" altLang="zh-CN">
                <a:latin typeface="仿宋" charset="0"/>
                <a:ea typeface="仿宋" charset="0"/>
                <a:cs typeface="仿宋" charset="0"/>
              </a:rPr>
              <a:t> D</a:t>
            </a:r>
            <a:endParaRPr lang="en-US" altLang="zh-CN">
              <a:latin typeface="仿宋" charset="0"/>
              <a:ea typeface="仿宋" charset="0"/>
              <a:cs typeface="仿宋" charset="0"/>
            </a:endParaRPr>
          </a:p>
          <a:p>
            <a:endParaRPr lang="en-US" altLang="zh-CN">
              <a:latin typeface="仿宋" charset="0"/>
              <a:ea typeface="仿宋" charset="0"/>
              <a:cs typeface="仿宋" charset="0"/>
            </a:endParaRPr>
          </a:p>
          <a:p>
            <a:r>
              <a:rPr lang="zh-CN" altLang="en-US">
                <a:latin typeface="仿宋" charset="0"/>
                <a:ea typeface="仿宋" charset="0"/>
                <a:cs typeface="仿宋" charset="0"/>
              </a:rPr>
              <a:t>子图</a:t>
            </a:r>
            <a:r>
              <a:rPr lang="en-US" altLang="zh-CN">
                <a:latin typeface="仿宋" charset="0"/>
                <a:ea typeface="仿宋" charset="0"/>
                <a:cs typeface="仿宋" charset="0"/>
              </a:rPr>
              <a:t> D </a:t>
            </a:r>
            <a:r>
              <a:rPr lang="zh-CN" altLang="en-US">
                <a:latin typeface="仿宋" charset="0"/>
                <a:ea typeface="仿宋" charset="0"/>
                <a:cs typeface="仿宋" charset="0"/>
              </a:rPr>
              <a:t>主要展示供应商与商品之间的供货关系。</a:t>
            </a:r>
            <a:endParaRPr lang="zh-CN" altLang="en-US">
              <a:latin typeface="仿宋" charset="0"/>
              <a:ea typeface="仿宋" charset="0"/>
              <a:cs typeface="仿宋" charset="0"/>
            </a:endParaRPr>
          </a:p>
        </p:txBody>
      </p:sp>
      <p:pic>
        <p:nvPicPr>
          <p:cNvPr id="3" name="图片 2" descr="截屏2026-05-05 18.43.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1745" y="0"/>
            <a:ext cx="682244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>
            <a:normAutofit fontScale="87500"/>
          </a:bodyPr>
          <a:lstStyle/>
          <a:p>
            <a:r>
              <a:rPr lang="zh-CN" altLang="en-US"/>
              <a:t>0</a:t>
            </a:r>
            <a:r>
              <a:t>5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功能</a:t>
            </a:r>
            <a:r>
              <a:rPr lang="zh-CN" altLang="en-US"/>
              <a:t>设计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功能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87755" y="1172845"/>
            <a:ext cx="4056380" cy="40716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fontAlgn="base">
              <a:spcBef>
                <a:spcPct val="0"/>
              </a:spcBef>
              <a:spcAft>
                <a:spcPts val="1000"/>
              </a:spcAft>
              <a:buFont typeface="Arial" panose="020B0604020202090204"/>
              <a:buNone/>
            </a:pPr>
            <a:r>
              <a:rPr lang="en-US" altLang="zh-CN" sz="1600" b="0" i="0">
                <a:solidFill>
                  <a:schemeClr val="tx1"/>
                </a:solidFill>
                <a:latin typeface="HarmonyOS Sans"/>
                <a:ea typeface="HarmonyOS Sans"/>
              </a:rPr>
              <a:t>（1）</a:t>
            </a:r>
            <a:r>
              <a:rPr lang="zh-CN" altLang="en-US" sz="1600" b="0" i="0">
                <a:solidFill>
                  <a:schemeClr val="tx1"/>
                </a:solidFill>
                <a:latin typeface="HarmonyOS Sans"/>
                <a:ea typeface="HarmonyOS Sans"/>
              </a:rPr>
              <a:t>数据分析</a:t>
            </a:r>
            <a:r>
              <a:rPr lang="zh-CN" altLang="en-US" sz="1600" b="0" i="0">
                <a:solidFill>
                  <a:schemeClr val="tx1"/>
                </a:solidFill>
                <a:latin typeface="HarmonyOS Sans"/>
                <a:ea typeface="HarmonyOS Sans"/>
              </a:rPr>
              <a:t>功能：数据总览、销售分析</a:t>
            </a:r>
            <a:endParaRPr lang="zh-CN" altLang="en-US" sz="1600" b="0" i="0">
              <a:solidFill>
                <a:schemeClr val="tx1"/>
              </a:solidFill>
              <a:latin typeface="HarmonyOS Sans"/>
              <a:ea typeface="HarmonyOS Sans"/>
            </a:endParaRPr>
          </a:p>
          <a:p>
            <a:pPr marL="0" indent="0" fontAlgn="base">
              <a:spcBef>
                <a:spcPct val="0"/>
              </a:spcBef>
              <a:spcAft>
                <a:spcPts val="1000"/>
              </a:spcAft>
              <a:buFont typeface="Arial" panose="020B0604020202090204"/>
              <a:buNone/>
            </a:pPr>
            <a:endParaRPr lang="zh-CN" altLang="en-US" sz="1600" b="0" i="0">
              <a:solidFill>
                <a:schemeClr val="tx1"/>
              </a:solidFill>
              <a:latin typeface="HarmonyOS Sans"/>
              <a:ea typeface="HarmonyOS Sans"/>
            </a:endParaRPr>
          </a:p>
          <a:p>
            <a:pPr marL="0" indent="0" fontAlgn="base">
              <a:spcBef>
                <a:spcPct val="0"/>
              </a:spcBef>
              <a:spcAft>
                <a:spcPts val="1000"/>
              </a:spcAft>
              <a:buFont typeface="Arial" panose="020B0604020202090204"/>
              <a:buNone/>
            </a:pPr>
            <a:r>
              <a:rPr lang="en-US" altLang="zh-CN" sz="1600" b="0" i="0">
                <a:solidFill>
                  <a:schemeClr val="tx1"/>
                </a:solidFill>
                <a:latin typeface="HarmonyOS Sans"/>
                <a:ea typeface="HarmonyOS Sans"/>
              </a:rPr>
              <a:t>（2）</a:t>
            </a:r>
            <a:r>
              <a:rPr lang="zh-CN" altLang="en-US" sz="1600" b="0" i="0">
                <a:solidFill>
                  <a:schemeClr val="tx1"/>
                </a:solidFill>
                <a:latin typeface="HarmonyOS Sans"/>
                <a:ea typeface="HarmonyOS Sans"/>
              </a:rPr>
              <a:t>交易管理</a:t>
            </a:r>
            <a:r>
              <a:rPr lang="zh-CN" altLang="en-US" sz="1600">
                <a:latin typeface="HarmonyOS Sans"/>
                <a:ea typeface="HarmonyOS Sans"/>
                <a:sym typeface="+mn-ea"/>
              </a:rPr>
              <a:t>功能</a:t>
            </a:r>
            <a:r>
              <a:rPr lang="zh-CN" altLang="en-US" sz="1600" b="0" i="0">
                <a:solidFill>
                  <a:schemeClr val="tx1"/>
                </a:solidFill>
                <a:latin typeface="HarmonyOS Sans"/>
                <a:ea typeface="HarmonyOS Sans"/>
              </a:rPr>
              <a:t>：销售订单管理、新开销售单</a:t>
            </a:r>
            <a:r>
              <a:rPr lang="zh-CN" altLang="en-US" sz="1600" b="0" i="0">
                <a:solidFill>
                  <a:schemeClr val="tx1"/>
                </a:solidFill>
                <a:latin typeface="HarmonyOS Sans"/>
                <a:ea typeface="HarmonyOS Sans"/>
              </a:rPr>
              <a:t>功能</a:t>
            </a:r>
            <a:endParaRPr lang="zh-CN" altLang="en-US" sz="1600" b="0" i="0">
              <a:solidFill>
                <a:schemeClr val="tx1"/>
              </a:solidFill>
              <a:latin typeface="HarmonyOS Sans"/>
              <a:ea typeface="HarmonyOS Sans"/>
            </a:endParaRPr>
          </a:p>
          <a:p>
            <a:pPr marL="0" indent="0" fontAlgn="base">
              <a:spcBef>
                <a:spcPct val="0"/>
              </a:spcBef>
              <a:spcAft>
                <a:spcPts val="1000"/>
              </a:spcAft>
              <a:buFont typeface="Arial" panose="020B0604020202090204"/>
              <a:buNone/>
            </a:pPr>
            <a:endParaRPr lang="zh-CN" altLang="en-US" sz="1600" b="0" i="0">
              <a:solidFill>
                <a:schemeClr val="tx1"/>
              </a:solidFill>
              <a:latin typeface="HarmonyOS Sans"/>
              <a:ea typeface="HarmonyOS Sans"/>
            </a:endParaRPr>
          </a:p>
          <a:p>
            <a:pPr marL="0" indent="0" fontAlgn="base">
              <a:spcBef>
                <a:spcPct val="0"/>
              </a:spcBef>
              <a:spcAft>
                <a:spcPts val="1000"/>
              </a:spcAft>
              <a:buFont typeface="Arial" panose="020B0604020202090204"/>
              <a:buNone/>
            </a:pPr>
            <a:r>
              <a:rPr lang="en-US" altLang="zh-CN" sz="1600" b="0" i="0">
                <a:solidFill>
                  <a:schemeClr val="tx1"/>
                </a:solidFill>
                <a:latin typeface="HarmonyOS Sans"/>
                <a:ea typeface="HarmonyOS Sans"/>
              </a:rPr>
              <a:t>（3）</a:t>
            </a:r>
            <a:r>
              <a:rPr lang="zh-CN" altLang="en-US" sz="1600" b="0" i="0">
                <a:solidFill>
                  <a:schemeClr val="tx1"/>
                </a:solidFill>
                <a:latin typeface="HarmonyOS Sans"/>
                <a:ea typeface="HarmonyOS Sans"/>
              </a:rPr>
              <a:t>商品管理</a:t>
            </a:r>
            <a:r>
              <a:rPr lang="zh-CN" altLang="en-US" sz="1600">
                <a:latin typeface="HarmonyOS Sans"/>
                <a:ea typeface="HarmonyOS Sans"/>
                <a:sym typeface="+mn-ea"/>
              </a:rPr>
              <a:t>功能</a:t>
            </a:r>
            <a:r>
              <a:rPr lang="zh-CN" altLang="en-US" sz="1600" b="0" i="0">
                <a:solidFill>
                  <a:schemeClr val="tx1"/>
                </a:solidFill>
                <a:latin typeface="HarmonyOS Sans"/>
                <a:ea typeface="HarmonyOS Sans"/>
              </a:rPr>
              <a:t>：商品管理、图书管理、分类管理</a:t>
            </a:r>
            <a:endParaRPr lang="zh-CN" altLang="en-US" sz="1600" b="0" i="0">
              <a:solidFill>
                <a:schemeClr val="tx1"/>
              </a:solidFill>
              <a:latin typeface="HarmonyOS Sans"/>
              <a:ea typeface="HarmonyOS Sans"/>
            </a:endParaRPr>
          </a:p>
          <a:p>
            <a:pPr marL="0" indent="0" fontAlgn="base">
              <a:spcBef>
                <a:spcPct val="0"/>
              </a:spcBef>
              <a:spcAft>
                <a:spcPts val="1000"/>
              </a:spcAft>
              <a:buFont typeface="Arial" panose="020B0604020202090204"/>
              <a:buNone/>
            </a:pPr>
            <a:endParaRPr lang="zh-CN" altLang="en-US" sz="1600" b="0" i="0">
              <a:solidFill>
                <a:schemeClr val="tx1"/>
              </a:solidFill>
              <a:latin typeface="HarmonyOS Sans"/>
              <a:ea typeface="HarmonyOS Sans"/>
            </a:endParaRPr>
          </a:p>
          <a:p>
            <a:pPr marL="0" indent="0" fontAlgn="base">
              <a:spcBef>
                <a:spcPct val="0"/>
              </a:spcBef>
              <a:spcAft>
                <a:spcPts val="1000"/>
              </a:spcAft>
              <a:buFont typeface="Arial" panose="020B0604020202090204"/>
              <a:buNone/>
            </a:pPr>
            <a:r>
              <a:rPr lang="en-US" altLang="zh-CN" sz="1600" b="0" i="0">
                <a:solidFill>
                  <a:schemeClr val="tx1"/>
                </a:solidFill>
                <a:latin typeface="HarmonyOS Sans"/>
                <a:ea typeface="HarmonyOS Sans"/>
              </a:rPr>
              <a:t>（4）</a:t>
            </a:r>
            <a:r>
              <a:rPr lang="zh-CN" altLang="en-US" sz="1600" b="0" i="0">
                <a:solidFill>
                  <a:schemeClr val="tx1"/>
                </a:solidFill>
                <a:latin typeface="HarmonyOS Sans"/>
                <a:ea typeface="HarmonyOS Sans"/>
              </a:rPr>
              <a:t>基础信息管理</a:t>
            </a:r>
            <a:r>
              <a:rPr lang="zh-CN" altLang="en-US" sz="1600">
                <a:latin typeface="HarmonyOS Sans"/>
                <a:ea typeface="HarmonyOS Sans"/>
                <a:sym typeface="+mn-ea"/>
              </a:rPr>
              <a:t>功能</a:t>
            </a:r>
            <a:r>
              <a:rPr lang="zh-CN" altLang="en-US" sz="1600" b="0" i="0">
                <a:solidFill>
                  <a:schemeClr val="tx1"/>
                </a:solidFill>
                <a:latin typeface="HarmonyOS Sans"/>
                <a:ea typeface="HarmonyOS Sans"/>
              </a:rPr>
              <a:t>：出版社、作者、译者、供应商、门店管理</a:t>
            </a:r>
            <a:r>
              <a:rPr lang="en-US" altLang="zh-CN" sz="1600" b="0" i="0">
                <a:solidFill>
                  <a:schemeClr val="tx1"/>
                </a:solidFill>
                <a:latin typeface="HarmonyOS Sans"/>
                <a:ea typeface="HarmonyOS Sans"/>
              </a:rPr>
              <a:t>、</a:t>
            </a:r>
            <a:r>
              <a:rPr lang="zh-CN" altLang="en-US" sz="1600" b="0" i="0">
                <a:solidFill>
                  <a:schemeClr val="tx1"/>
                </a:solidFill>
                <a:latin typeface="HarmonyOS Sans"/>
                <a:ea typeface="HarmonyOS Sans"/>
              </a:rPr>
              <a:t>客户和会员</a:t>
            </a:r>
            <a:r>
              <a:rPr lang="zh-CN" altLang="en-US" sz="1600" b="0" i="0">
                <a:solidFill>
                  <a:schemeClr val="tx1"/>
                </a:solidFill>
                <a:latin typeface="HarmonyOS Sans"/>
                <a:ea typeface="HarmonyOS Sans"/>
              </a:rPr>
              <a:t>管理</a:t>
            </a:r>
            <a:endParaRPr lang="zh-CN" altLang="en-US" sz="1600" b="0" i="0">
              <a:solidFill>
                <a:schemeClr val="tx1"/>
              </a:solidFill>
              <a:latin typeface="HarmonyOS Sans"/>
              <a:ea typeface="HarmonyOS Sans"/>
            </a:endParaRPr>
          </a:p>
          <a:p>
            <a:pPr marL="0" indent="0" fontAlgn="base">
              <a:spcBef>
                <a:spcPct val="0"/>
              </a:spcBef>
              <a:spcAft>
                <a:spcPts val="1000"/>
              </a:spcAft>
              <a:buFont typeface="Arial" panose="020B0604020202090204"/>
              <a:buNone/>
            </a:pPr>
            <a:endParaRPr lang="zh-CN" altLang="en-US" sz="1600" b="0" i="0">
              <a:solidFill>
                <a:schemeClr val="tx1"/>
              </a:solidFill>
              <a:latin typeface="HarmonyOS Sans"/>
              <a:ea typeface="HarmonyOS Sans"/>
            </a:endParaRPr>
          </a:p>
          <a:p>
            <a:pPr marL="0" indent="0" fontAlgn="base">
              <a:spcBef>
                <a:spcPct val="0"/>
              </a:spcBef>
              <a:spcAft>
                <a:spcPts val="1000"/>
              </a:spcAft>
              <a:buFont typeface="Arial" panose="020B0604020202090204"/>
              <a:buNone/>
            </a:pPr>
            <a:r>
              <a:rPr lang="en-US" altLang="zh-CN" sz="1600" b="0" i="0">
                <a:solidFill>
                  <a:schemeClr val="tx1"/>
                </a:solidFill>
                <a:latin typeface="HarmonyOS Sans"/>
                <a:ea typeface="HarmonyOS Sans"/>
              </a:rPr>
              <a:t>（5）</a:t>
            </a:r>
            <a:r>
              <a:rPr lang="zh-CN" altLang="en-US" sz="1600" b="0" i="0">
                <a:solidFill>
                  <a:schemeClr val="tx1"/>
                </a:solidFill>
                <a:latin typeface="HarmonyOS Sans"/>
                <a:ea typeface="HarmonyOS Sans"/>
              </a:rPr>
              <a:t>系统管理</a:t>
            </a:r>
            <a:r>
              <a:rPr lang="zh-CN" altLang="en-US" sz="1600">
                <a:latin typeface="HarmonyOS Sans"/>
                <a:ea typeface="HarmonyOS Sans"/>
                <a:sym typeface="+mn-ea"/>
              </a:rPr>
              <a:t>功能</a:t>
            </a:r>
            <a:r>
              <a:rPr lang="zh-CN" altLang="en-US" sz="1600" b="0" i="0">
                <a:solidFill>
                  <a:schemeClr val="tx1"/>
                </a:solidFill>
                <a:latin typeface="HarmonyOS Sans"/>
                <a:ea typeface="HarmonyOS Sans"/>
              </a:rPr>
              <a:t>：账号管理、权限控制</a:t>
            </a:r>
            <a:endParaRPr lang="zh-CN" altLang="en-US" sz="1600" b="0" i="0">
              <a:solidFill>
                <a:schemeClr val="tx1"/>
              </a:solidFill>
              <a:latin typeface="HarmonyOS Sans"/>
              <a:ea typeface="HarmonyOS Sans"/>
            </a:endParaRPr>
          </a:p>
        </p:txBody>
      </p:sp>
      <p:pic>
        <p:nvPicPr>
          <p:cNvPr id="7" name="图片 6" descr="截屏2026-04-27 10.28.02"/>
          <p:cNvPicPr>
            <a:picLocks noChangeAspect="1"/>
          </p:cNvPicPr>
          <p:nvPr/>
        </p:nvPicPr>
        <p:blipFill>
          <a:blip r:embed="rId1"/>
          <a:srcRect t="9288" r="84217" b="16539"/>
          <a:stretch>
            <a:fillRect/>
          </a:stretch>
        </p:blipFill>
        <p:spPr>
          <a:xfrm>
            <a:off x="6283960" y="126365"/>
            <a:ext cx="1391285" cy="66059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>
            <a:normAutofit fontScale="87500"/>
          </a:bodyPr>
          <a:lstStyle/>
          <a:p>
            <a:r>
              <a:rPr lang="zh-CN" altLang="en-US"/>
              <a:t>0</a:t>
            </a:r>
            <a:r>
              <a:t>6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t>模块</a:t>
            </a:r>
            <a:r>
              <a:t>划分</a:t>
            </a:r>
          </a:p>
        </p:txBody>
      </p: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模块</a:t>
            </a:r>
            <a:r>
              <a:t>划分</a:t>
            </a:r>
          </a:p>
        </p:txBody>
      </p:sp>
      <p:pic>
        <p:nvPicPr>
          <p:cNvPr id="3" name="图片 2" descr="截屏2026-04-26 22.11.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" y="2320925"/>
            <a:ext cx="3915410" cy="4017010"/>
          </a:xfrm>
          <a:prstGeom prst="rect">
            <a:avLst/>
          </a:prstGeom>
        </p:spPr>
      </p:pic>
      <p:pic>
        <p:nvPicPr>
          <p:cNvPr id="4" name="图片 3" descr="截屏2026-04-27 10.28.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4160" y="2320925"/>
            <a:ext cx="3975735" cy="4017010"/>
          </a:xfrm>
          <a:prstGeom prst="rect">
            <a:avLst/>
          </a:prstGeom>
        </p:spPr>
      </p:pic>
      <p:pic>
        <p:nvPicPr>
          <p:cNvPr id="5" name="图片 4" descr="截屏2026-04-27 10.28.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1490" y="2320925"/>
            <a:ext cx="3949700" cy="39998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633470" y="1216660"/>
            <a:ext cx="1079500" cy="32956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spcAft>
                <a:spcPct val="60000"/>
              </a:spcAft>
            </a:pPr>
            <a:r>
              <a:rPr lang="zh-CN" altLang="en-US" sz="1600" b="1" i="0">
                <a:solidFill>
                  <a:schemeClr val="tx1"/>
                </a:solidFill>
                <a:latin typeface="新宋体" charset="0"/>
                <a:ea typeface="新宋体" charset="0"/>
              </a:rPr>
              <a:t>演示账号</a:t>
            </a:r>
            <a:r>
              <a:rPr lang="en-US" altLang="zh-CN" sz="1600" b="1" i="0">
                <a:solidFill>
                  <a:schemeClr val="tx1"/>
                </a:solidFill>
                <a:latin typeface="新宋体" charset="0"/>
                <a:ea typeface="新宋体" charset="0"/>
              </a:rPr>
              <a:t>：</a:t>
            </a:r>
            <a:endParaRPr lang="en-US" altLang="zh-CN" sz="1600" b="1" i="0">
              <a:solidFill>
                <a:schemeClr val="tx1"/>
              </a:solidFill>
              <a:latin typeface="新宋体" charset="0"/>
              <a:ea typeface="新宋体" charset="0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4949825" y="672148"/>
          <a:ext cx="5304155" cy="1417320"/>
        </p:xfrm>
        <a:graphic>
          <a:graphicData uri="http://schemas.openxmlformats.org/drawingml/2006/table">
            <a:tbl>
              <a:tblPr/>
              <a:tblGrid>
                <a:gridCol w="1320800"/>
                <a:gridCol w="1209675"/>
                <a:gridCol w="2773680"/>
              </a:tblGrid>
              <a:tr h="276860">
                <a:tc>
                  <a:txBody>
                    <a:bodyPr/>
                    <a:p>
                      <a:r>
                        <a:rPr lang="zh-CN" altLang="en-US" sz="1100">
                          <a:latin typeface="新宋体" charset="0"/>
                          <a:ea typeface="新宋体" charset="0"/>
                        </a:rPr>
                        <a:t>用户名</a:t>
                      </a:r>
                      <a:endParaRPr lang="zh-CN" altLang="en-US" sz="11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>
                          <a:latin typeface="新宋体" charset="0"/>
                          <a:ea typeface="新宋体" charset="0"/>
                        </a:rPr>
                        <a:t>密码</a:t>
                      </a:r>
                      <a:endParaRPr lang="zh-CN" altLang="en-US" sz="11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>
                          <a:latin typeface="新宋体" charset="0"/>
                          <a:ea typeface="新宋体" charset="0"/>
                        </a:rPr>
                        <a:t>角色</a:t>
                      </a:r>
                      <a:endParaRPr lang="zh-CN" altLang="en-US" sz="11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新宋体" charset="0"/>
                          <a:ea typeface="新宋体" charset="0"/>
                        </a:rPr>
                        <a:t>admin</a:t>
                      </a:r>
                      <a:endParaRPr lang="en-US" altLang="zh-CN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新宋体" charset="0"/>
                          <a:ea typeface="新宋体" charset="0"/>
                        </a:rPr>
                        <a:t>Admin123!</a:t>
                      </a:r>
                      <a:endParaRPr lang="en-US" altLang="zh-CN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>
                          <a:latin typeface="新宋体" charset="0"/>
                          <a:ea typeface="新宋体" charset="0"/>
                        </a:rPr>
                        <a:t>管理员，所有模块可写</a:t>
                      </a:r>
                      <a:endParaRPr lang="zh-CN" altLang="en-US" sz="11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新宋体" charset="0"/>
                          <a:ea typeface="新宋体" charset="0"/>
                        </a:rPr>
                        <a:t>operator</a:t>
                      </a:r>
                      <a:endParaRPr lang="en-US" altLang="zh-CN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新宋体" charset="0"/>
                          <a:ea typeface="新宋体" charset="0"/>
                        </a:rPr>
                        <a:t>Operator123!</a:t>
                      </a:r>
                      <a:endParaRPr lang="en-US" altLang="zh-CN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>
                          <a:latin typeface="新宋体" charset="0"/>
                          <a:ea typeface="新宋体" charset="0"/>
                          <a:cs typeface="新宋体" charset="0"/>
                        </a:rPr>
                        <a:t>操作员，可维护客户</a:t>
                      </a:r>
                      <a:r>
                        <a:rPr lang="en-US" altLang="zh-CN" sz="1100">
                          <a:latin typeface="新宋体" charset="0"/>
                          <a:ea typeface="新宋体" charset="0"/>
                          <a:cs typeface="新宋体" charset="0"/>
                        </a:rPr>
                        <a:t>/</a:t>
                      </a:r>
                      <a:r>
                        <a:rPr lang="zh-CN" altLang="en-US" sz="1100">
                          <a:latin typeface="新宋体" charset="0"/>
                          <a:ea typeface="新宋体" charset="0"/>
                          <a:cs typeface="新宋体" charset="0"/>
                        </a:rPr>
                        <a:t>会员</a:t>
                      </a:r>
                      <a:r>
                        <a:rPr lang="en-US" altLang="zh-CN" sz="1100">
                          <a:latin typeface="新宋体" charset="0"/>
                          <a:ea typeface="新宋体" charset="0"/>
                          <a:cs typeface="新宋体" charset="0"/>
                        </a:rPr>
                        <a:t>/</a:t>
                      </a:r>
                      <a:r>
                        <a:rPr lang="zh-CN" altLang="en-US" sz="1100">
                          <a:latin typeface="新宋体" charset="0"/>
                          <a:ea typeface="新宋体" charset="0"/>
                          <a:cs typeface="新宋体" charset="0"/>
                        </a:rPr>
                        <a:t>销售</a:t>
                      </a:r>
                      <a:endParaRPr lang="zh-CN" altLang="en-US" sz="1100">
                        <a:latin typeface="新宋体" charset="0"/>
                        <a:ea typeface="新宋体" charset="0"/>
                        <a:cs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新宋体" charset="0"/>
                          <a:ea typeface="新宋体" charset="0"/>
                        </a:rPr>
                        <a:t>viewer</a:t>
                      </a:r>
                      <a:endParaRPr lang="en-US" altLang="zh-CN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新宋体" charset="0"/>
                          <a:ea typeface="新宋体" charset="0"/>
                        </a:rPr>
                        <a:t>Viewer123!</a:t>
                      </a:r>
                      <a:endParaRPr lang="en-US" altLang="zh-CN" sz="14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>
                          <a:latin typeface="新宋体" charset="0"/>
                          <a:ea typeface="新宋体" charset="0"/>
                        </a:rPr>
                        <a:t>查询用户，仅数据分析</a:t>
                      </a:r>
                      <a:endParaRPr lang="zh-CN" altLang="en-US" sz="1100">
                        <a:latin typeface="新宋体" charset="0"/>
                        <a:ea typeface="新宋体" charset="0"/>
                      </a:endParaRPr>
                    </a:p>
                  </a:txBody>
                  <a:tcPr marL="165417" marR="1654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模块</a:t>
            </a:r>
            <a:r>
              <a:rPr lang="zh-CN" altLang="en-US"/>
              <a:t>划分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5960" y="1210310"/>
            <a:ext cx="10490200" cy="27082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fontAlgn="base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/>
              <a:buNone/>
            </a:pPr>
            <a:r>
              <a:rPr lang="en-US" altLang="zh-CN" sz="2000">
                <a:latin typeface="HarmonyOS Sans"/>
                <a:ea typeface="HarmonyOS Sans"/>
                <a:sym typeface="+mn-ea"/>
              </a:rPr>
              <a:t>1. </a:t>
            </a:r>
            <a:r>
              <a:rPr lang="zh-CN" altLang="en-US" sz="2000" b="1">
                <a:latin typeface="HarmonyOS Sans"/>
                <a:ea typeface="HarmonyOS Sans"/>
                <a:sym typeface="+mn-ea"/>
              </a:rPr>
              <a:t>权限与用户管理模块</a:t>
            </a:r>
            <a:r>
              <a:rPr lang="en-US" altLang="zh-CN" sz="2000" b="1">
                <a:latin typeface="HarmonyOS Sans"/>
                <a:ea typeface="HarmonyOS Sans"/>
                <a:sym typeface="+mn-ea"/>
              </a:rPr>
              <a:t>（</a:t>
            </a:r>
            <a:r>
              <a:rPr lang="zh-CN" altLang="en-US" sz="2000" b="1">
                <a:latin typeface="HarmonyOS Sans"/>
                <a:ea typeface="HarmonyOS Sans"/>
                <a:sym typeface="+mn-ea"/>
              </a:rPr>
              <a:t>管理员和操作员</a:t>
            </a:r>
            <a:r>
              <a:rPr lang="zh-CN" altLang="en-US" sz="2000" b="1">
                <a:latin typeface="HarmonyOS Sans"/>
                <a:ea typeface="HarmonyOS Sans"/>
                <a:sym typeface="+mn-ea"/>
              </a:rPr>
              <a:t>可使用</a:t>
            </a:r>
            <a:r>
              <a:rPr lang="en-US" altLang="zh-CN" sz="2000" b="1">
                <a:latin typeface="HarmonyOS Sans"/>
                <a:ea typeface="HarmonyOS Sans"/>
                <a:sym typeface="+mn-ea"/>
              </a:rPr>
              <a:t>）</a:t>
            </a:r>
            <a:endParaRPr lang="zh-CN" altLang="en-US" sz="2000" b="1">
              <a:latin typeface="HarmonyOS Sans"/>
              <a:ea typeface="HarmonyOS Sans"/>
              <a:sym typeface="+mn-ea"/>
            </a:endParaRPr>
          </a:p>
          <a:p>
            <a:pPr marL="0" indent="0" fontAlgn="base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/>
              <a:buNone/>
            </a:pPr>
            <a:r>
              <a:rPr lang="zh-CN" altLang="en-US" sz="2000">
                <a:latin typeface="HarmonyOS Sans"/>
                <a:ea typeface="HarmonyOS Sans"/>
                <a:sym typeface="+mn-ea"/>
              </a:rPr>
              <a:t>该模块负责系统用户账号管理和访问权限控制。</a:t>
            </a:r>
            <a:r>
              <a:rPr lang="en-US" altLang="zh-CN" sz="2000">
                <a:latin typeface="HarmonyOS Sans"/>
                <a:ea typeface="HarmonyOS Sans"/>
                <a:sym typeface="+mn-ea"/>
              </a:rPr>
              <a:t>  </a:t>
            </a:r>
            <a:endParaRPr lang="en-US" altLang="zh-CN" sz="2000">
              <a:latin typeface="HarmonyOS Sans"/>
              <a:ea typeface="HarmonyOS Sans"/>
              <a:sym typeface="+mn-ea"/>
            </a:endParaRPr>
          </a:p>
          <a:p>
            <a:pPr marL="0" indent="0" fontAlgn="base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/>
              <a:buNone/>
            </a:pPr>
            <a:r>
              <a:rPr lang="zh-CN" altLang="en-US" sz="2000">
                <a:latin typeface="HarmonyOS Sans"/>
                <a:ea typeface="HarmonyOS Sans"/>
                <a:sym typeface="+mn-ea"/>
              </a:rPr>
              <a:t>系统根据不同角色分配不同功能权限，主要包括管理员、操作员和查询用户等角色。不同角色登录后，系统动态展示可访问的菜单和功能，保证各类用户只能在授权范围内进行操作。</a:t>
            </a:r>
            <a:endParaRPr lang="zh-CN" altLang="en-US" sz="2000">
              <a:latin typeface="HarmonyOS Sans"/>
              <a:ea typeface="HarmonyOS Sans"/>
              <a:sym typeface="+mn-ea"/>
            </a:endParaRPr>
          </a:p>
          <a:p>
            <a:pPr marL="0" indent="0" fontAlgn="base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Font typeface="Arial" panose="020B0604020202090204"/>
              <a:buNone/>
            </a:pPr>
            <a:r>
              <a:rPr lang="zh-CN" altLang="en-US" sz="2000">
                <a:latin typeface="HarmonyOS Sans"/>
                <a:ea typeface="HarmonyOS Sans"/>
                <a:sym typeface="+mn-ea"/>
              </a:rPr>
              <a:t>主要内容</a:t>
            </a:r>
            <a:r>
              <a:rPr lang="en-US" altLang="zh-CN" sz="2000">
                <a:latin typeface="HarmonyOS Sans"/>
                <a:ea typeface="HarmonyOS Sans"/>
                <a:sym typeface="+mn-ea"/>
              </a:rPr>
              <a:t>：</a:t>
            </a:r>
            <a:r>
              <a:rPr lang="zh-CN" altLang="en-US" sz="2000">
                <a:latin typeface="HarmonyOS Sans"/>
                <a:ea typeface="HarmonyOS Sans"/>
                <a:sym typeface="+mn-ea"/>
              </a:rPr>
              <a:t>用户登录与身份验证</a:t>
            </a:r>
            <a:r>
              <a:rPr lang="en-US" altLang="zh-CN" sz="2000">
                <a:latin typeface="HarmonyOS Sans"/>
                <a:ea typeface="HarmonyOS Sans"/>
                <a:sym typeface="+mn-ea"/>
              </a:rPr>
              <a:t>、</a:t>
            </a:r>
            <a:r>
              <a:rPr lang="zh-CN" altLang="en-US" sz="2000">
                <a:latin typeface="HarmonyOS Sans"/>
                <a:ea typeface="HarmonyOS Sans"/>
                <a:sym typeface="+mn-ea"/>
              </a:rPr>
              <a:t>账号信息管理</a:t>
            </a:r>
            <a:r>
              <a:rPr lang="en-US" altLang="zh-CN" sz="2000">
                <a:latin typeface="HarmonyOS Sans"/>
                <a:ea typeface="HarmonyOS Sans"/>
                <a:sym typeface="+mn-ea"/>
              </a:rPr>
              <a:t>、</a:t>
            </a:r>
            <a:r>
              <a:rPr lang="zh-CN" altLang="en-US" sz="2000">
                <a:latin typeface="HarmonyOS Sans"/>
                <a:ea typeface="HarmonyOS Sans"/>
                <a:sym typeface="+mn-ea"/>
              </a:rPr>
              <a:t>角色划分与权限分配</a:t>
            </a:r>
            <a:r>
              <a:rPr lang="en-US" altLang="zh-CN" sz="2000">
                <a:latin typeface="HarmonyOS Sans"/>
                <a:ea typeface="HarmonyOS Sans"/>
                <a:sym typeface="+mn-ea"/>
              </a:rPr>
              <a:t>、</a:t>
            </a:r>
            <a:r>
              <a:rPr lang="zh-CN" altLang="en-US" sz="2000">
                <a:latin typeface="HarmonyOS Sans"/>
                <a:ea typeface="HarmonyOS Sans"/>
                <a:sym typeface="+mn-ea"/>
              </a:rPr>
              <a:t>菜单访问控制</a:t>
            </a:r>
            <a:endParaRPr lang="zh-CN" altLang="en-US" sz="2000">
              <a:latin typeface="HarmonyOS Sans"/>
              <a:ea typeface="HarmonyOS Sans"/>
              <a:sym typeface="+mn-ea"/>
            </a:endParaRPr>
          </a:p>
        </p:txBody>
      </p:sp>
      <p:pic>
        <p:nvPicPr>
          <p:cNvPr id="6" name="图片 5" descr="截屏2026-04-27 18.26.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960" y="3156585"/>
            <a:ext cx="10064115" cy="3428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模块</a:t>
            </a:r>
            <a:r>
              <a:rPr lang="zh-CN" altLang="en-US"/>
              <a:t>划分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95960" y="1329055"/>
            <a:ext cx="3543300" cy="4199890"/>
          </a:xfrm>
          <a:prstGeom prst="rect">
            <a:avLst/>
          </a:prstGeom>
        </p:spPr>
        <p:txBody>
          <a:bodyPr wrap="square">
            <a:spAutoFit/>
          </a:bodyPr>
          <a:p>
            <a:pPr marL="0" algn="l" defTabSz="914400" fontAlgn="base">
              <a:lnSpc>
                <a:spcPct val="110000"/>
              </a:lnSpc>
              <a:spcAft>
                <a:spcPts val="1000"/>
              </a:spcAft>
              <a:buClrTx/>
              <a:buSzTx/>
              <a:buNone/>
            </a:pPr>
            <a:r>
              <a:rPr lang="en-US" altLang="zh-CN" sz="2000">
                <a:latin typeface="HarmonyOS Sans"/>
                <a:ea typeface="HarmonyOS Sans"/>
              </a:rPr>
              <a:t>2. </a:t>
            </a:r>
            <a:r>
              <a:rPr lang="en-US" altLang="zh-CN" sz="2000" b="1">
                <a:latin typeface="HarmonyOS Sans"/>
                <a:ea typeface="HarmonyOS Sans"/>
              </a:rPr>
              <a:t>商品管理模块</a:t>
            </a:r>
            <a:endParaRPr lang="en-US" altLang="zh-CN" sz="2000">
              <a:latin typeface="HarmonyOS Sans"/>
              <a:ea typeface="HarmonyOS Sans"/>
            </a:endParaRPr>
          </a:p>
          <a:p>
            <a:pPr marL="0" algn="l" defTabSz="914400" fontAlgn="base">
              <a:lnSpc>
                <a:spcPct val="110000"/>
              </a:lnSpc>
              <a:spcAft>
                <a:spcPts val="1000"/>
              </a:spcAft>
              <a:buClrTx/>
              <a:buSzTx/>
              <a:buNone/>
            </a:pPr>
            <a:r>
              <a:rPr lang="en-US" altLang="zh-CN" sz="2000">
                <a:latin typeface="HarmonyOS Sans"/>
                <a:ea typeface="HarmonyOS Sans"/>
              </a:rPr>
              <a:t>该模块是系统的核心业务模块之一，用于维护书店销售商品的基础信息。  </a:t>
            </a:r>
            <a:endParaRPr lang="en-US" altLang="zh-CN" sz="2000">
              <a:latin typeface="HarmonyOS Sans"/>
              <a:ea typeface="HarmonyOS Sans"/>
            </a:endParaRPr>
          </a:p>
          <a:p>
            <a:pPr marL="0" algn="l" defTabSz="914400" fontAlgn="base">
              <a:lnSpc>
                <a:spcPct val="110000"/>
              </a:lnSpc>
              <a:spcAft>
                <a:spcPts val="1000"/>
              </a:spcAft>
              <a:buClrTx/>
              <a:buSzTx/>
              <a:buNone/>
            </a:pPr>
            <a:r>
              <a:rPr lang="en-US" altLang="zh-CN" sz="2000">
                <a:latin typeface="HarmonyOS Sans"/>
                <a:ea typeface="HarmonyOS Sans"/>
              </a:rPr>
              <a:t>系统不仅支持普通商品管理，还支持图书类商品的专项管理，使商品体系具有更好的扩展性。</a:t>
            </a:r>
            <a:endParaRPr lang="en-US" altLang="zh-CN" sz="2000">
              <a:latin typeface="HarmonyOS Sans"/>
              <a:ea typeface="HarmonyOS Sans"/>
            </a:endParaRPr>
          </a:p>
          <a:p>
            <a:pPr marL="0" algn="l" defTabSz="914400" fontAlgn="base">
              <a:lnSpc>
                <a:spcPct val="110000"/>
              </a:lnSpc>
              <a:spcAft>
                <a:spcPts val="1000"/>
              </a:spcAft>
              <a:buClrTx/>
              <a:buSzTx/>
              <a:buNone/>
            </a:pPr>
            <a:r>
              <a:rPr lang="en-US" altLang="zh-CN" sz="2000">
                <a:latin typeface="HarmonyOS Sans"/>
                <a:ea typeface="HarmonyOS Sans"/>
              </a:rPr>
              <a:t> 主要内容：商品信息管理、图书信息管理、商品分类管理、商品状态管理、商品查询、筛选与维护</a:t>
            </a:r>
            <a:endParaRPr lang="en-US" altLang="zh-CN" sz="2000">
              <a:latin typeface="HarmonyOS Sans"/>
              <a:ea typeface="HarmonyOS Sans"/>
            </a:endParaRPr>
          </a:p>
        </p:txBody>
      </p:sp>
      <p:pic>
        <p:nvPicPr>
          <p:cNvPr id="4" name="图片 3" descr="截屏2026-04-27 18.29.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6945" y="781050"/>
            <a:ext cx="6931660" cy="52959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模块划分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78155" y="1161415"/>
            <a:ext cx="3890010" cy="4784725"/>
          </a:xfrm>
          <a:prstGeom prst="rect">
            <a:avLst/>
          </a:prstGeom>
        </p:spPr>
        <p:txBody>
          <a:bodyPr wrap="square">
            <a:spAutoFit/>
          </a:bodyPr>
          <a:p>
            <a:pPr marL="0" algn="l" defTabSz="914400" fontAlgn="base">
              <a:lnSpc>
                <a:spcPct val="140000"/>
              </a:lnSpc>
              <a:spcAft>
                <a:spcPts val="1000"/>
              </a:spcAft>
              <a:buClrTx/>
              <a:buSzTx/>
              <a:buNone/>
            </a:pPr>
            <a:r>
              <a:rPr lang="en-US" altLang="zh-CN" sz="2000">
                <a:latin typeface="HarmonyOS Sans"/>
                <a:ea typeface="HarmonyOS Sans"/>
              </a:rPr>
              <a:t>3. </a:t>
            </a:r>
            <a:r>
              <a:rPr lang="en-US" altLang="zh-CN" sz="2000" b="1">
                <a:latin typeface="HarmonyOS Sans"/>
                <a:ea typeface="HarmonyOS Sans"/>
              </a:rPr>
              <a:t>交易与订单模块</a:t>
            </a:r>
            <a:endParaRPr lang="en-US" altLang="zh-CN" sz="2000">
              <a:latin typeface="HarmonyOS Sans"/>
              <a:ea typeface="HarmonyOS Sans"/>
            </a:endParaRPr>
          </a:p>
          <a:p>
            <a:pPr marL="0" algn="l" defTabSz="914400" fontAlgn="base">
              <a:lnSpc>
                <a:spcPct val="140000"/>
              </a:lnSpc>
              <a:spcAft>
                <a:spcPts val="1000"/>
              </a:spcAft>
              <a:buClrTx/>
              <a:buSzTx/>
              <a:buNone/>
            </a:pPr>
            <a:r>
              <a:rPr lang="en-US" altLang="zh-CN" sz="2000">
                <a:latin typeface="HarmonyOS Sans"/>
                <a:ea typeface="HarmonyOS Sans"/>
              </a:rPr>
              <a:t>该模块用于处理商品销售相关业务，实现订单记录与销售开单功能。  </a:t>
            </a:r>
            <a:endParaRPr lang="en-US" altLang="zh-CN" sz="2000">
              <a:latin typeface="HarmonyOS Sans"/>
              <a:ea typeface="HarmonyOS Sans"/>
            </a:endParaRPr>
          </a:p>
          <a:p>
            <a:pPr marL="0" algn="l" defTabSz="914400" fontAlgn="base">
              <a:lnSpc>
                <a:spcPct val="140000"/>
              </a:lnSpc>
              <a:spcAft>
                <a:spcPts val="1000"/>
              </a:spcAft>
              <a:buClrTx/>
              <a:buSzTx/>
              <a:buNone/>
            </a:pPr>
            <a:r>
              <a:rPr lang="en-US" altLang="zh-CN" sz="2000">
                <a:latin typeface="HarmonyOS Sans"/>
                <a:ea typeface="HarmonyOS Sans"/>
              </a:rPr>
              <a:t>既支持历史销售订单的查看和管理，也支持新销售单的创建，满足日常销售业务处理需求。</a:t>
            </a:r>
            <a:endParaRPr lang="en-US" altLang="zh-CN" sz="2000">
              <a:latin typeface="HarmonyOS Sans"/>
              <a:ea typeface="HarmonyOS Sans"/>
            </a:endParaRPr>
          </a:p>
          <a:p>
            <a:pPr marL="0" algn="l" defTabSz="914400" fontAlgn="base">
              <a:lnSpc>
                <a:spcPct val="140000"/>
              </a:lnSpc>
              <a:spcAft>
                <a:spcPts val="1000"/>
              </a:spcAft>
              <a:buClrTx/>
              <a:buSzTx/>
              <a:buNone/>
            </a:pPr>
            <a:r>
              <a:rPr lang="en-US" altLang="zh-CN" sz="2000">
                <a:latin typeface="HarmonyOS Sans"/>
                <a:ea typeface="HarmonyOS Sans"/>
              </a:rPr>
              <a:t> 主要内容：销售订单管理</a:t>
            </a:r>
            <a:r>
              <a:rPr lang="zh-CN" altLang="en-US" sz="2000">
                <a:latin typeface="HarmonyOS Sans"/>
                <a:ea typeface="宋体" charset="0"/>
              </a:rPr>
              <a:t>、</a:t>
            </a:r>
            <a:r>
              <a:rPr lang="en-US" altLang="zh-CN" sz="2000">
                <a:latin typeface="HarmonyOS Sans"/>
                <a:ea typeface="HarmonyOS Sans"/>
              </a:rPr>
              <a:t>新开销售单</a:t>
            </a:r>
            <a:r>
              <a:rPr lang="zh-CN" altLang="en-US" sz="2000">
                <a:latin typeface="HarmonyOS Sans"/>
                <a:ea typeface="宋体" charset="0"/>
              </a:rPr>
              <a:t>、</a:t>
            </a:r>
            <a:r>
              <a:rPr lang="en-US" altLang="zh-CN" sz="2000">
                <a:latin typeface="HarmonyOS Sans"/>
                <a:ea typeface="HarmonyOS Sans"/>
              </a:rPr>
              <a:t>销售记录维护</a:t>
            </a:r>
            <a:r>
              <a:rPr lang="zh-CN" altLang="en-US" sz="2000">
                <a:latin typeface="HarmonyOS Sans"/>
                <a:ea typeface="宋体" charset="0"/>
              </a:rPr>
              <a:t>、</a:t>
            </a:r>
            <a:r>
              <a:rPr lang="en-US" altLang="zh-CN" sz="2000">
                <a:latin typeface="HarmonyOS Sans"/>
                <a:ea typeface="HarmonyOS Sans"/>
              </a:rPr>
              <a:t>订单数据查询</a:t>
            </a:r>
            <a:endParaRPr lang="en-US" altLang="zh-CN" sz="2000">
              <a:latin typeface="HarmonyOS Sans"/>
              <a:ea typeface="HarmonyOS Sans"/>
            </a:endParaRPr>
          </a:p>
        </p:txBody>
      </p:sp>
      <p:pic>
        <p:nvPicPr>
          <p:cNvPr id="4" name="图片 3" descr="截屏2026-04-27 18.30.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435" y="74930"/>
            <a:ext cx="4874260" cy="3895090"/>
          </a:xfrm>
          <a:prstGeom prst="rect">
            <a:avLst/>
          </a:prstGeom>
        </p:spPr>
      </p:pic>
      <p:pic>
        <p:nvPicPr>
          <p:cNvPr id="5" name="图片 4" descr="截屏2026-04-27 18.30.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5210" y="2529205"/>
            <a:ext cx="4100830" cy="41852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模块划分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07365" y="1080135"/>
            <a:ext cx="7313295" cy="20300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HarmonyOS Sans"/>
                <a:ea typeface="HarmonyOS Sans"/>
              </a:rPr>
              <a:t>4. </a:t>
            </a:r>
            <a:r>
              <a:rPr lang="en-US" altLang="zh-CN" b="1">
                <a:latin typeface="HarmonyOS Sans"/>
                <a:ea typeface="HarmonyOS Sans"/>
              </a:rPr>
              <a:t>数据分析模块</a:t>
            </a:r>
            <a:endParaRPr lang="en-US" altLang="zh-CN" b="1">
              <a:latin typeface="HarmonyOS Sans"/>
              <a:ea typeface="HarmonyOS Sans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endParaRPr lang="en-US" altLang="zh-CN">
              <a:latin typeface="HarmonyOS Sans"/>
              <a:ea typeface="HarmonyOS Sans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HarmonyOS Sans"/>
                <a:ea typeface="HarmonyOS Sans"/>
              </a:rPr>
              <a:t>该模块主要用于对系统中的经营数据进行统计、汇总与可视化展示。  </a:t>
            </a:r>
            <a:endParaRPr lang="en-US" altLang="zh-CN">
              <a:latin typeface="HarmonyOS Sans"/>
              <a:ea typeface="HarmonyOS Sans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HarmonyOS Sans"/>
                <a:ea typeface="HarmonyOS Sans"/>
              </a:rPr>
              <a:t>通过</a:t>
            </a:r>
            <a:r>
              <a:rPr lang="en-US" altLang="zh-CN" b="1">
                <a:latin typeface="HarmonyOS Sans"/>
                <a:ea typeface="HarmonyOS Sans"/>
              </a:rPr>
              <a:t>首页看板</a:t>
            </a:r>
            <a:r>
              <a:rPr lang="en-US" altLang="zh-CN">
                <a:latin typeface="HarmonyOS Sans"/>
                <a:ea typeface="HarmonyOS Sans"/>
              </a:rPr>
              <a:t>和图表分析，帮助管理人员快速掌握门店经营情况和商品销售情况。</a:t>
            </a:r>
            <a:endParaRPr lang="en-US" altLang="zh-CN">
              <a:latin typeface="HarmonyOS Sans"/>
              <a:ea typeface="HarmonyOS Sans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HarmonyOS Sans"/>
                <a:ea typeface="HarmonyOS Sans"/>
              </a:rPr>
              <a:t> 主要内容：数据总览、销售分析、销售趋势统计、热销商品排行、分类销售占比分析、库存预警提示</a:t>
            </a:r>
            <a:endParaRPr lang="en-US" altLang="zh-CN">
              <a:latin typeface="HarmonyOS Sans"/>
              <a:ea typeface="HarmonyOS Sans"/>
            </a:endParaRPr>
          </a:p>
        </p:txBody>
      </p:sp>
      <p:pic>
        <p:nvPicPr>
          <p:cNvPr id="4" name="图片 3" descr="截屏2026-04-27 18.33.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205" y="3293110"/>
            <a:ext cx="5810250" cy="3244215"/>
          </a:xfrm>
          <a:prstGeom prst="rect">
            <a:avLst/>
          </a:prstGeom>
        </p:spPr>
      </p:pic>
      <p:pic>
        <p:nvPicPr>
          <p:cNvPr id="5" name="图片 4" descr="截屏2026-04-26 22.11.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480" y="1518920"/>
            <a:ext cx="4250055" cy="43605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模块</a:t>
            </a:r>
            <a:r>
              <a:rPr lang="zh-CN" altLang="en-US"/>
              <a:t>划分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95960" y="1253490"/>
            <a:ext cx="2369185" cy="4242435"/>
          </a:xfrm>
          <a:prstGeom prst="rect">
            <a:avLst/>
          </a:prstGeom>
        </p:spPr>
        <p:txBody>
          <a:bodyPr>
            <a:noAutofit/>
          </a:bodyPr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00000"/>
                </a:solidFill>
                <a:latin typeface="宋体"/>
                <a:ea typeface="宋体"/>
              </a:rPr>
              <a:t>5. </a:t>
            </a:r>
            <a:r>
              <a:rPr lang="zh-CN" altLang="en-US" sz="1600" b="1">
                <a:solidFill>
                  <a:srgbClr val="000000"/>
                </a:solidFill>
                <a:latin typeface="宋体"/>
                <a:ea typeface="宋体"/>
              </a:rPr>
              <a:t>基础资料管理模块</a:t>
            </a:r>
            <a:endParaRPr lang="zh-CN" altLang="en-US" sz="1600" b="1">
              <a:solidFill>
                <a:srgbClr val="000000"/>
              </a:solidFill>
              <a:latin typeface="宋体"/>
              <a:ea typeface="宋体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rgbClr val="000000"/>
              </a:solidFill>
              <a:latin typeface="宋体"/>
              <a:ea typeface="宋体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000000"/>
                </a:solidFill>
                <a:latin typeface="宋体"/>
                <a:ea typeface="宋体"/>
              </a:rPr>
              <a:t>该模块用于维护系统运行所依赖的基础业务数据，为商品、图书及销售管理提供支撑。 </a:t>
            </a:r>
            <a:r>
              <a:rPr lang="en-US" altLang="zh-CN" sz="1600">
                <a:solidFill>
                  <a:srgbClr val="000000"/>
                </a:solidFill>
                <a:latin typeface="宋体"/>
                <a:ea typeface="宋体"/>
              </a:rPr>
              <a:t> </a:t>
            </a:r>
            <a:endParaRPr lang="en-US" altLang="zh-CN" sz="1600">
              <a:solidFill>
                <a:srgbClr val="000000"/>
              </a:solidFill>
              <a:latin typeface="宋体"/>
              <a:ea typeface="宋体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endParaRPr lang="en-US" altLang="zh-CN" sz="1600">
              <a:solidFill>
                <a:srgbClr val="000000"/>
              </a:solidFill>
              <a:latin typeface="宋体"/>
              <a:ea typeface="宋体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000000"/>
                </a:solidFill>
                <a:latin typeface="宋体"/>
                <a:ea typeface="宋体"/>
              </a:rPr>
              <a:t>其中既包括图书相关基础资料，也包括组织和供应链相关信息。</a:t>
            </a:r>
            <a:endParaRPr lang="zh-CN" altLang="en-US" sz="1600">
              <a:solidFill>
                <a:srgbClr val="000000"/>
              </a:solidFill>
              <a:latin typeface="宋体"/>
              <a:ea typeface="宋体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rgbClr val="000000"/>
              </a:solidFill>
              <a:latin typeface="宋体"/>
              <a:ea typeface="宋体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00000"/>
                </a:solidFill>
                <a:latin typeface="宋体"/>
                <a:ea typeface="宋体"/>
              </a:rPr>
              <a:t> </a:t>
            </a:r>
            <a:r>
              <a:rPr lang="zh-CN" altLang="en-US" sz="1600">
                <a:solidFill>
                  <a:srgbClr val="000000"/>
                </a:solidFill>
                <a:latin typeface="宋体"/>
                <a:ea typeface="宋体"/>
              </a:rPr>
              <a:t>主要内容</a:t>
            </a:r>
            <a:r>
              <a:rPr lang="en-US" altLang="zh-CN" sz="1600">
                <a:solidFill>
                  <a:srgbClr val="000000"/>
                </a:solidFill>
                <a:latin typeface="宋体"/>
                <a:ea typeface="宋体"/>
              </a:rPr>
              <a:t>：</a:t>
            </a:r>
            <a:r>
              <a:rPr lang="zh-CN" altLang="en-US" sz="1600">
                <a:solidFill>
                  <a:srgbClr val="000000"/>
                </a:solidFill>
                <a:latin typeface="宋体"/>
                <a:ea typeface="宋体"/>
              </a:rPr>
              <a:t>出版社管理</a:t>
            </a:r>
            <a:r>
              <a:rPr lang="en-US" altLang="zh-CN" sz="1600">
                <a:solidFill>
                  <a:srgbClr val="000000"/>
                </a:solidFill>
                <a:latin typeface="宋体"/>
                <a:ea typeface="宋体"/>
              </a:rPr>
              <a:t>、</a:t>
            </a:r>
            <a:r>
              <a:rPr lang="zh-CN" altLang="en-US" sz="1600">
                <a:solidFill>
                  <a:srgbClr val="000000"/>
                </a:solidFill>
                <a:latin typeface="宋体"/>
                <a:ea typeface="宋体"/>
              </a:rPr>
              <a:t>作者管理</a:t>
            </a:r>
            <a:r>
              <a:rPr lang="en-US" altLang="zh-CN" sz="1600">
                <a:solidFill>
                  <a:srgbClr val="000000"/>
                </a:solidFill>
                <a:latin typeface="宋体"/>
                <a:ea typeface="宋体"/>
              </a:rPr>
              <a:t>、</a:t>
            </a:r>
            <a:r>
              <a:rPr lang="zh-CN" altLang="en-US" sz="1600">
                <a:solidFill>
                  <a:srgbClr val="000000"/>
                </a:solidFill>
                <a:latin typeface="宋体"/>
                <a:ea typeface="宋体"/>
              </a:rPr>
              <a:t>译者管理</a:t>
            </a:r>
            <a:r>
              <a:rPr lang="en-US" altLang="zh-CN" sz="1600">
                <a:solidFill>
                  <a:srgbClr val="000000"/>
                </a:solidFill>
                <a:latin typeface="宋体"/>
                <a:ea typeface="宋体"/>
              </a:rPr>
              <a:t>、</a:t>
            </a:r>
            <a:r>
              <a:rPr lang="zh-CN" altLang="en-US" sz="1600">
                <a:solidFill>
                  <a:srgbClr val="000000"/>
                </a:solidFill>
                <a:latin typeface="宋体"/>
                <a:ea typeface="宋体"/>
              </a:rPr>
              <a:t>供应商管理</a:t>
            </a:r>
            <a:r>
              <a:rPr lang="en-US" altLang="zh-CN" sz="1600">
                <a:solidFill>
                  <a:srgbClr val="000000"/>
                </a:solidFill>
                <a:latin typeface="宋体"/>
                <a:ea typeface="宋体"/>
              </a:rPr>
              <a:t>、</a:t>
            </a:r>
            <a:r>
              <a:rPr lang="zh-CN" altLang="en-US" sz="1600">
                <a:solidFill>
                  <a:srgbClr val="000000"/>
                </a:solidFill>
                <a:latin typeface="宋体"/>
                <a:ea typeface="宋体"/>
              </a:rPr>
              <a:t>门店管理</a:t>
            </a:r>
            <a:r>
              <a:rPr lang="en-US" altLang="zh-CN" sz="1600">
                <a:solidFill>
                  <a:srgbClr val="000000"/>
                </a:solidFill>
                <a:latin typeface="宋体"/>
                <a:ea typeface="宋体"/>
              </a:rPr>
              <a:t>、</a:t>
            </a:r>
            <a:r>
              <a:rPr lang="zh-CN" altLang="en-US" sz="1600">
                <a:solidFill>
                  <a:srgbClr val="000000"/>
                </a:solidFill>
                <a:latin typeface="宋体"/>
                <a:ea typeface="宋体"/>
              </a:rPr>
              <a:t>客户管理</a:t>
            </a:r>
            <a:r>
              <a:rPr lang="en-US" altLang="zh-CN" sz="1600">
                <a:solidFill>
                  <a:srgbClr val="000000"/>
                </a:solidFill>
                <a:latin typeface="宋体"/>
                <a:ea typeface="宋体"/>
              </a:rPr>
              <a:t>、</a:t>
            </a:r>
            <a:r>
              <a:rPr lang="zh-CN" altLang="en-US" sz="1600">
                <a:solidFill>
                  <a:srgbClr val="000000"/>
                </a:solidFill>
                <a:latin typeface="宋体"/>
                <a:ea typeface="宋体"/>
              </a:rPr>
              <a:t>会员管理</a:t>
            </a:r>
            <a:endParaRPr lang="zh-CN" altLang="en-US" sz="1600">
              <a:solidFill>
                <a:srgbClr val="000000"/>
              </a:solidFill>
              <a:latin typeface="宋体"/>
              <a:ea typeface="宋体"/>
            </a:endParaRPr>
          </a:p>
        </p:txBody>
      </p:sp>
      <p:pic>
        <p:nvPicPr>
          <p:cNvPr id="4" name="图片 3" descr="截屏2026-04-27 18.36.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170" y="467995"/>
            <a:ext cx="3382010" cy="44805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486900" y="5496560"/>
            <a:ext cx="2009140" cy="377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新宋体" charset="0"/>
                <a:ea typeface="新宋体" charset="0"/>
              </a:rPr>
              <a:t>会员管理</a:t>
            </a:r>
            <a:r>
              <a:rPr lang="en-US" altLang="zh-CN">
                <a:latin typeface="新宋体" charset="0"/>
                <a:ea typeface="新宋体" charset="0"/>
              </a:rPr>
              <a:t>（</a:t>
            </a:r>
            <a:r>
              <a:rPr lang="zh-CN" altLang="en-US">
                <a:latin typeface="新宋体" charset="0"/>
                <a:ea typeface="新宋体" charset="0"/>
              </a:rPr>
              <a:t>示例</a:t>
            </a:r>
            <a:r>
              <a:rPr lang="en-US" altLang="zh-CN">
                <a:latin typeface="新宋体" charset="0"/>
                <a:ea typeface="新宋体" charset="0"/>
              </a:rPr>
              <a:t>）</a:t>
            </a:r>
            <a:endParaRPr lang="en-US" altLang="zh-CN">
              <a:latin typeface="新宋体" charset="0"/>
              <a:ea typeface="新宋体" charset="0"/>
            </a:endParaRPr>
          </a:p>
        </p:txBody>
      </p:sp>
      <p:pic>
        <p:nvPicPr>
          <p:cNvPr id="6" name="图片 5" descr="截屏2026-04-27 18.37.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300" y="1789430"/>
            <a:ext cx="4019550" cy="31591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596765" y="5506085"/>
            <a:ext cx="2166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新宋体" charset="0"/>
                <a:ea typeface="新宋体" charset="0"/>
              </a:rPr>
              <a:t>作者管理</a:t>
            </a:r>
            <a:r>
              <a:rPr lang="en-US" altLang="zh-CN">
                <a:latin typeface="新宋体" charset="0"/>
                <a:ea typeface="新宋体" charset="0"/>
              </a:rPr>
              <a:t>（</a:t>
            </a:r>
            <a:r>
              <a:rPr lang="zh-CN" altLang="en-US">
                <a:latin typeface="新宋体" charset="0"/>
                <a:ea typeface="新宋体" charset="0"/>
              </a:rPr>
              <a:t>示例</a:t>
            </a:r>
            <a:r>
              <a:rPr lang="en-US" altLang="zh-CN">
                <a:latin typeface="新宋体" charset="0"/>
                <a:ea typeface="新宋体" charset="0"/>
              </a:rPr>
              <a:t>）</a:t>
            </a:r>
            <a:endParaRPr lang="en-US" altLang="zh-CN">
              <a:latin typeface="新宋体" charset="0"/>
              <a:ea typeface="新宋体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THANK YOU</a:t>
            </a:r>
            <a:r>
              <a:t>！</a:t>
            </a: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 WPS,a click to unlimited possibilitie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CONTENT_GROUP_TYPE" val="contentchip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内容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66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CONTENT_GROUP_TYPE" val="contentchip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8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9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9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3.0"/>
</p:tagLst>
</file>

<file path=ppt/tags/tag1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  <p:tag name="KSO_WM_UNIT_VALUE" val="8"/>
</p:tagLst>
</file>

<file path=ppt/tags/tag119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  <p:tag name="KSO_WM_UNIT_CONTENT_GROUP_TYPE" val="contentchip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44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44"/>
</p:tagLst>
</file>

<file path=ppt/tags/tag12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244"/>
  <p:tag name="KSO_WM_TEMPLATE_THUMBS_INDEX" val="1、11"/>
</p:tagLst>
</file>

<file path=ppt/tags/tag13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5"/>
  <p:tag name="KSO_WM_TEMPLATE_MASTER_TYPE" val="0"/>
  <p:tag name="KSO_WM_TEMPLATE_COLOR_TYPE" val="1"/>
  <p:tag name="KSO_WM_UNIT_SHOW_EDIT_AREA_INDICATION" val="1"/>
</p:tagLst>
</file>

<file path=ppt/tags/tag1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</p:tagLst>
</file>

<file path=ppt/tags/tag132.xml><?xml version="1.0" encoding="utf-8"?>
<p:tagLst xmlns:p="http://schemas.openxmlformats.org/presentationml/2006/main">
  <p:tag name="KSO_WM_UNIT_ISCONTENTSTITLE" val="0"/>
  <p:tag name="KSO_WM_UNIT_ISNUMDGMTITLE" val="0"/>
  <p:tag name="KSO_WM_UNIT_PRESET_TEXT" val=" WPS,a click to unlimited possibilitie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CONTENT_GROUP_TYPE" val="contentchip"/>
</p:tagLst>
</file>

<file path=ppt/tags/tag13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内容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134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CONTENT_GROUP_TYPE" val="contentchip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15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5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16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6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6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7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3.0"/>
</p:tagLst>
</file>

<file path=ppt/tags/tag18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  <p:tag name="KSO_WM_UNIT_VALUE" val="8"/>
</p:tagLst>
</file>

<file path=ppt/tags/tag187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  <p:tag name="KSO_WM_UNIT_CONTENT_GROUP_TYPE" val="contentchip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9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44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44"/>
</p:tagLst>
</file>

<file path=ppt/tags/tag197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244"/>
  <p:tag name="KSO_WM_TEMPLATE_THUMBS_INDEX" val="1、11"/>
</p:tagLst>
</file>

<file path=ppt/tags/tag19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5"/>
  <p:tag name="KSO_WM_TEMPLATE_MASTER_TYPE" val="0"/>
  <p:tag name="KSO_WM_TEMPLATE_COLOR_TYPE" val="1"/>
  <p:tag name="KSO_WM_UNIT_SHOW_EDIT_AREA_INDICATION" val="1"/>
</p:tagLst>
</file>

<file path=ppt/tags/tag199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244_1*f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</p:tagLst>
</file>

<file path=ppt/tags/tag20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244_1*b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  <p:tag name="KSO_WM_UNIT_PRESET_TEXT" val=" WPS,a click to unlimited possibilities"/>
  <p:tag name="KSO_WM_UNIT_TEXT_TYPE" val="1"/>
</p:tagLst>
</file>

<file path=ppt/tags/tag20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44_1*a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  <p:tag name="KSO_WM_UNIT_PRESET_TEXT" val="添加文档标题内容"/>
  <p:tag name="KSO_WM_UNIT_TEXT_TYPE" val="1"/>
</p:tagLst>
</file>

<file path=ppt/tags/tag202.xml><?xml version="1.0" encoding="utf-8"?>
<p:tagLst xmlns:p="http://schemas.openxmlformats.org/presentationml/2006/main">
  <p:tag name="KSO_WM_SLIDE_ID" val="custom20230244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244"/>
  <p:tag name="KSO_WM_SLIDE_LAYOUT" val="a_b_f"/>
  <p:tag name="KSO_WM_SLIDE_LAYOUT_CNT" val="1_1_1"/>
  <p:tag name="KSO_WM_TEMPLATE_THUMBS_INDEX" val="1、11"/>
  <p:tag name="KSO_WM_SLIDE_CONTENT_AREA" val="{&quot;left&quot;:&quot;58.35&quot;,&quot;top&quot;:&quot;94.55&quot;,&quot;width&quot;:&quot;600.15&quot;,&quot;height&quot;:&quot;297&quot;}"/>
  <p:tag name="KSO_WM_SLIDE_THEME_ID" val="3302934"/>
  <p:tag name="KSO_WM_SLIDE_THEME_NAME" val="蓝色简约风主题"/>
</p:tagLst>
</file>

<file path=ppt/tags/tag203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44_6*a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DIAGRAM_GROUP_CODE" val="l1-1"/>
</p:tagLst>
</file>

<file path=ppt/tags/tag20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30244_6*l_h_i*1_1_1"/>
  <p:tag name="KSO_WM_TEMPLATE_CATEGORY" val="custom"/>
  <p:tag name="KSO_WM_TEMPLATE_INDEX" val="20230244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471.95001220703125,&quot;left&quot;:320.0500122070313,&quot;top&quot;:34.34999389648438,&quot;width&quot;:593.3499755859375}"/>
  <p:tag name="KSO_WM_DIAGRAM_COLOR_TRICK" val="1"/>
  <p:tag name="KSO_WM_DIAGRAM_COLOR_TEXT_CAN_REMOVE" val="n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2"/>
  <p:tag name="KSO_WM_UNIT_ID" val="custom20230244_6*l_h_i*1_1_2"/>
  <p:tag name="KSO_WM_TEMPLATE_CATEGORY" val="custom"/>
  <p:tag name="KSO_WM_TEMPLATE_INDEX" val="20230244"/>
  <p:tag name="KSO_WM_UNIT_LAYERLEVEL" val="1_1_1"/>
  <p:tag name="KSO_WM_TAG_VERSION" val="3.0"/>
  <p:tag name="KSO_WM_BEAUTIFY_FLAG" val="#wm#"/>
  <p:tag name="KSO_WM_UNIT_FILL_FORE_SCHEMECOLOR_INDEX_1_BRIGHTNESS" val="0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9"/>
  <p:tag name="KSO_WM_UNIT_FILL_FORE_SCHEMECOLOR_INDEX_3_POS" val="1"/>
  <p:tag name="KSO_WM_UNIT_FILL_FORE_SCHEMECOLOR_INDEX_3_TRANS" val="0"/>
  <p:tag name="KSO_WM_UNIT_FILL_GRADIENT_TYPE" val="2"/>
  <p:tag name="KSO_WM_UNIT_FILL_GRADIENT_ANGLE" val="0"/>
  <p:tag name="KSO_WM_UNIT_FILL_GRADIENT_DIRECTION" val="12"/>
  <p:tag name="KSO_WM_UNIT_FILL_TYPE" val="3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4"/>
  <p:tag name="KSO_WM_UNIT_TEXT_FILL_TYPE" val="1"/>
  <p:tag name="KSO_WM_DIAGRAM_GROUP_CODE" val="l1-1"/>
  <p:tag name="KSO_WM_DIAGRAM_VERSION" val="3"/>
  <p:tag name="KSO_WM_DIAGRAM_MAX_ITEMCNT" val="8"/>
  <p:tag name="KSO_WM_DIAGRAM_MIN_ITEMCNT" val="2"/>
  <p:tag name="KSO_WM_DIAGRAM_VIRTUALLY_FRAME" val="{&quot;height&quot;:471.95001220703125,&quot;left&quot;:320.0500122070313,&quot;top&quot;:34.34999389648438,&quot;width&quot;:593.3499755859375}"/>
  <p:tag name="KSO_WM_DIAGRAM_COLOR_TRICK" val="1"/>
  <p:tag name="KSO_WM_DIAGRAM_COLOR_TEXT_CAN_REMOVE" val="n"/>
  <p:tag name="KSO_WM_DIAGRAM_COLOR_MATCH_VALUE" val="{&quot;shape&quot;:{&quot;fill&quot;:{&quot;gradient&quot;:[{&quot;brightness&quot;:0,&quot;colorType&quot;:1,&quot;foreColorIndex&quot;:5,&quot;pos&quot;:1,&quot;transparency&quot;:0},{&quot;brightness&quot;:0,&quot;colorType&quot;:1,&quot;foreColorIndex&quot;:6,&quot;pos&quot;:0.20000000298023224,&quot;transparency&quot;:0.349999994039535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0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custom"/>
  <p:tag name="KSO_WM_TEMPLATE_INDEX" val="20230244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44_6*l_h_f*1_1_1"/>
  <p:tag name="KSO_WM_DIAGRAM_VERSION" val="3"/>
  <p:tag name="KSO_WM_DIAGRAM_MAX_ITEMCNT" val="8"/>
  <p:tag name="KSO_WM_DIAGRAM_MIN_ITEMCNT" val="2"/>
  <p:tag name="KSO_WM_DIAGRAM_VIRTUALLY_FRAME" val="{&quot;height&quot;:471.95001220703125,&quot;left&quot;:320.0500122070313,&quot;top&quot;:34.34999389648438,&quot;width&quot;:593.3499755859375}"/>
  <p:tag name="KSO_WM_DIAGRAM_COLOR_TRICK" val="1"/>
  <p:tag name="KSO_WM_DIAGRAM_COLOR_TEXT_CAN_REMOVE" val="n"/>
  <p:tag name="KSO_WM_UNIT_SUBTYPE" val="a"/>
  <p:tag name="KSO_WM_UNIT_PRESET_TEXT" val="单击添加目录标题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</p:tagLst>
</file>

<file path=ppt/tags/tag20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custom20230244_6*l_h_i*1_2_1"/>
  <p:tag name="KSO_WM_TEMPLATE_CATEGORY" val="custom"/>
  <p:tag name="KSO_WM_TEMPLATE_INDEX" val="20230244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471.95001220703125,&quot;left&quot;:320.0500122070313,&quot;top&quot;:34.34999389648438,&quot;width&quot;:593.3499755859375}"/>
  <p:tag name="KSO_WM_DIAGRAM_COLOR_TRICK" val="1"/>
  <p:tag name="KSO_WM_DIAGRAM_COLOR_TEXT_CAN_REMOVE" val="n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custom20230244_6*l_h_i*1_2_2"/>
  <p:tag name="KSO_WM_TEMPLATE_CATEGORY" val="custom"/>
  <p:tag name="KSO_WM_TEMPLATE_INDEX" val="20230244"/>
  <p:tag name="KSO_WM_UNIT_LAYERLEVEL" val="1_1_1"/>
  <p:tag name="KSO_WM_TAG_VERSION" val="3.0"/>
  <p:tag name="KSO_WM_BEAUTIFY_FLAG" val="#wm#"/>
  <p:tag name="KSO_WM_UNIT_FILL_FORE_SCHEMECOLOR_INDEX_1_BRIGHTNESS" val="0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9"/>
  <p:tag name="KSO_WM_UNIT_FILL_FORE_SCHEMECOLOR_INDEX_3_POS" val="1"/>
  <p:tag name="KSO_WM_UNIT_FILL_FORE_SCHEMECOLOR_INDEX_3_TRANS" val="0"/>
  <p:tag name="KSO_WM_UNIT_FILL_GRADIENT_TYPE" val="2"/>
  <p:tag name="KSO_WM_UNIT_FILL_GRADIENT_ANGLE" val="0"/>
  <p:tag name="KSO_WM_UNIT_FILL_GRADIENT_DIRECTION" val="12"/>
  <p:tag name="KSO_WM_UNIT_FILL_TYPE" val="3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4"/>
  <p:tag name="KSO_WM_UNIT_TEXT_FILL_TYPE" val="1"/>
  <p:tag name="KSO_WM_DIAGRAM_GROUP_CODE" val="l1-1"/>
  <p:tag name="KSO_WM_DIAGRAM_VERSION" val="3"/>
  <p:tag name="KSO_WM_DIAGRAM_MAX_ITEMCNT" val="8"/>
  <p:tag name="KSO_WM_DIAGRAM_MIN_ITEMCNT" val="2"/>
  <p:tag name="KSO_WM_DIAGRAM_VIRTUALLY_FRAME" val="{&quot;height&quot;:471.95001220703125,&quot;left&quot;:320.0500122070313,&quot;top&quot;:34.34999389648438,&quot;width&quot;:593.3499755859375}"/>
  <p:tag name="KSO_WM_DIAGRAM_COLOR_TRICK" val="1"/>
  <p:tag name="KSO_WM_DIAGRAM_COLOR_TEXT_CAN_REMOVE" val="n"/>
  <p:tag name="KSO_WM_DIAGRAM_COLOR_MATCH_VALUE" val="{&quot;shape&quot;:{&quot;fill&quot;:{&quot;gradient&quot;:[{&quot;brightness&quot;:0,&quot;colorType&quot;:1,&quot;foreColorIndex&quot;:5,&quot;pos&quot;:1,&quot;transparency&quot;:0},{&quot;brightness&quot;:0,&quot;colorType&quot;:1,&quot;foreColorIndex&quot;:6,&quot;pos&quot;:0.20000000298023224,&quot;transparency&quot;:0.349999994039535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0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custom"/>
  <p:tag name="KSO_WM_TEMPLATE_INDEX" val="20230244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44_6*l_h_f*1_2_1"/>
  <p:tag name="KSO_WM_DIAGRAM_VERSION" val="3"/>
  <p:tag name="KSO_WM_DIAGRAM_MAX_ITEMCNT" val="8"/>
  <p:tag name="KSO_WM_DIAGRAM_MIN_ITEMCNT" val="2"/>
  <p:tag name="KSO_WM_DIAGRAM_VIRTUALLY_FRAME" val="{&quot;height&quot;:471.95001220703125,&quot;left&quot;:320.0500122070313,&quot;top&quot;:34.34999389648438,&quot;width&quot;:593.3499755859375}"/>
  <p:tag name="KSO_WM_DIAGRAM_COLOR_TRICK" val="1"/>
  <p:tag name="KSO_WM_DIAGRAM_COLOR_TEXT_CAN_REMOVE" val="n"/>
  <p:tag name="KSO_WM_UNIT_SUBTYPE" val="a"/>
  <p:tag name="KSO_WM_UNIT_PRESET_TEXT" val="单击添加目录标题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</p:tagLst>
</file>

<file path=ppt/tags/tag2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custom20230244_6*l_h_i*1_3_1"/>
  <p:tag name="KSO_WM_TEMPLATE_CATEGORY" val="custom"/>
  <p:tag name="KSO_WM_TEMPLATE_INDEX" val="20230244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471.95001220703125,&quot;left&quot;:320.0500122070313,&quot;top&quot;:34.34999389648438,&quot;width&quot;:593.3499755859375}"/>
  <p:tag name="KSO_WM_DIAGRAM_COLOR_TRICK" val="1"/>
  <p:tag name="KSO_WM_DIAGRAM_COLOR_TEXT_CAN_REMOVE" val="n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custom20230244_6*l_h_i*1_3_2"/>
  <p:tag name="KSO_WM_TEMPLATE_CATEGORY" val="custom"/>
  <p:tag name="KSO_WM_TEMPLATE_INDEX" val="20230244"/>
  <p:tag name="KSO_WM_UNIT_LAYERLEVEL" val="1_1_1"/>
  <p:tag name="KSO_WM_TAG_VERSION" val="3.0"/>
  <p:tag name="KSO_WM_BEAUTIFY_FLAG" val="#wm#"/>
  <p:tag name="KSO_WM_UNIT_FILL_FORE_SCHEMECOLOR_INDEX_1_BRIGHTNESS" val="0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9"/>
  <p:tag name="KSO_WM_UNIT_FILL_FORE_SCHEMECOLOR_INDEX_3_POS" val="1"/>
  <p:tag name="KSO_WM_UNIT_FILL_FORE_SCHEMECOLOR_INDEX_3_TRANS" val="0"/>
  <p:tag name="KSO_WM_UNIT_FILL_GRADIENT_TYPE" val="2"/>
  <p:tag name="KSO_WM_UNIT_FILL_GRADIENT_ANGLE" val="0"/>
  <p:tag name="KSO_WM_UNIT_FILL_GRADIENT_DIRECTION" val="12"/>
  <p:tag name="KSO_WM_UNIT_FILL_TYPE" val="3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4"/>
  <p:tag name="KSO_WM_UNIT_TEXT_FILL_TYPE" val="1"/>
  <p:tag name="KSO_WM_DIAGRAM_GROUP_CODE" val="l1-1"/>
  <p:tag name="KSO_WM_DIAGRAM_VERSION" val="3"/>
  <p:tag name="KSO_WM_DIAGRAM_MAX_ITEMCNT" val="8"/>
  <p:tag name="KSO_WM_DIAGRAM_MIN_ITEMCNT" val="2"/>
  <p:tag name="KSO_WM_DIAGRAM_VIRTUALLY_FRAME" val="{&quot;height&quot;:471.95001220703125,&quot;left&quot;:320.0500122070313,&quot;top&quot;:34.34999389648438,&quot;width&quot;:593.3499755859375}"/>
  <p:tag name="KSO_WM_DIAGRAM_COLOR_TRICK" val="1"/>
  <p:tag name="KSO_WM_DIAGRAM_COLOR_TEXT_CAN_REMOVE" val="n"/>
  <p:tag name="KSO_WM_DIAGRAM_COLOR_MATCH_VALUE" val="{&quot;shape&quot;:{&quot;fill&quot;:{&quot;gradient&quot;:[{&quot;brightness&quot;:0,&quot;colorType&quot;:1,&quot;foreColorIndex&quot;:5,&quot;pos&quot;:1,&quot;transparency&quot;:0},{&quot;brightness&quot;:0,&quot;colorType&quot;:1,&quot;foreColorIndex&quot;:6,&quot;pos&quot;:0.20000000298023224,&quot;transparency&quot;:0.349999994039535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custom"/>
  <p:tag name="KSO_WM_TEMPLATE_INDEX" val="20230244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44_6*l_h_f*1_3_1"/>
  <p:tag name="KSO_WM_DIAGRAM_VERSION" val="3"/>
  <p:tag name="KSO_WM_DIAGRAM_MAX_ITEMCNT" val="8"/>
  <p:tag name="KSO_WM_DIAGRAM_MIN_ITEMCNT" val="2"/>
  <p:tag name="KSO_WM_DIAGRAM_VIRTUALLY_FRAME" val="{&quot;height&quot;:471.95001220703125,&quot;left&quot;:320.0500122070313,&quot;top&quot;:34.34999389648438,&quot;width&quot;:593.3499755859375}"/>
  <p:tag name="KSO_WM_DIAGRAM_COLOR_TRICK" val="1"/>
  <p:tag name="KSO_WM_DIAGRAM_COLOR_TEXT_CAN_REMOVE" val="n"/>
  <p:tag name="KSO_WM_UNIT_SUBTYPE" val="a"/>
  <p:tag name="KSO_WM_UNIT_PRESET_TEXT" val="单击添加目录标题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</p:tagLst>
</file>

<file path=ppt/tags/tag2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custom20230244_6*l_h_i*1_4_1"/>
  <p:tag name="KSO_WM_TEMPLATE_CATEGORY" val="custom"/>
  <p:tag name="KSO_WM_TEMPLATE_INDEX" val="20230244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471.95001220703125,&quot;left&quot;:320.0500122070313,&quot;top&quot;:34.34999389648438,&quot;width&quot;:593.3499755859375}"/>
  <p:tag name="KSO_WM_DIAGRAM_COLOR_TRICK" val="1"/>
  <p:tag name="KSO_WM_DIAGRAM_COLOR_TEXT_CAN_REMOVE" val="n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custom20230244_6*l_h_i*1_4_2"/>
  <p:tag name="KSO_WM_TEMPLATE_CATEGORY" val="custom"/>
  <p:tag name="KSO_WM_TEMPLATE_INDEX" val="20230244"/>
  <p:tag name="KSO_WM_UNIT_LAYERLEVEL" val="1_1_1"/>
  <p:tag name="KSO_WM_TAG_VERSION" val="3.0"/>
  <p:tag name="KSO_WM_BEAUTIFY_FLAG" val="#wm#"/>
  <p:tag name="KSO_WM_UNIT_FILL_FORE_SCHEMECOLOR_INDEX_1_BRIGHTNESS" val="0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9"/>
  <p:tag name="KSO_WM_UNIT_FILL_FORE_SCHEMECOLOR_INDEX_3_POS" val="1"/>
  <p:tag name="KSO_WM_UNIT_FILL_FORE_SCHEMECOLOR_INDEX_3_TRANS" val="0"/>
  <p:tag name="KSO_WM_UNIT_FILL_GRADIENT_TYPE" val="2"/>
  <p:tag name="KSO_WM_UNIT_FILL_GRADIENT_ANGLE" val="0"/>
  <p:tag name="KSO_WM_UNIT_FILL_GRADIENT_DIRECTION" val="12"/>
  <p:tag name="KSO_WM_UNIT_FILL_TYPE" val="3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4"/>
  <p:tag name="KSO_WM_UNIT_TEXT_FILL_TYPE" val="1"/>
  <p:tag name="KSO_WM_DIAGRAM_GROUP_CODE" val="l1-1"/>
  <p:tag name="KSO_WM_DIAGRAM_VERSION" val="3"/>
  <p:tag name="KSO_WM_DIAGRAM_MAX_ITEMCNT" val="8"/>
  <p:tag name="KSO_WM_DIAGRAM_MIN_ITEMCNT" val="2"/>
  <p:tag name="KSO_WM_DIAGRAM_VIRTUALLY_FRAME" val="{&quot;height&quot;:471.95001220703125,&quot;left&quot;:320.0500122070313,&quot;top&quot;:34.34999389648438,&quot;width&quot;:593.3499755859375}"/>
  <p:tag name="KSO_WM_DIAGRAM_COLOR_TRICK" val="1"/>
  <p:tag name="KSO_WM_DIAGRAM_COLOR_TEXT_CAN_REMOVE" val="n"/>
  <p:tag name="KSO_WM_DIAGRAM_COLOR_MATCH_VALUE" val="{&quot;shape&quot;:{&quot;fill&quot;:{&quot;gradient&quot;:[{&quot;brightness&quot;:0,&quot;colorType&quot;:1,&quot;foreColorIndex&quot;:5,&quot;pos&quot;:1,&quot;transparency&quot;:0},{&quot;brightness&quot;:0,&quot;colorType&quot;:1,&quot;foreColorIndex&quot;:6,&quot;pos&quot;:0.20000000298023224,&quot;transparency&quot;:0.349999994039535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1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custom"/>
  <p:tag name="KSO_WM_TEMPLATE_INDEX" val="20230244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44_6*l_h_f*1_4_1"/>
  <p:tag name="KSO_WM_DIAGRAM_VERSION" val="3"/>
  <p:tag name="KSO_WM_DIAGRAM_MAX_ITEMCNT" val="8"/>
  <p:tag name="KSO_WM_DIAGRAM_MIN_ITEMCNT" val="2"/>
  <p:tag name="KSO_WM_DIAGRAM_VIRTUALLY_FRAME" val="{&quot;height&quot;:471.95001220703125,&quot;left&quot;:320.0500122070313,&quot;top&quot;:34.34999389648438,&quot;width&quot;:593.3499755859375}"/>
  <p:tag name="KSO_WM_DIAGRAM_COLOR_TRICK" val="1"/>
  <p:tag name="KSO_WM_DIAGRAM_COLOR_TEXT_CAN_REMOVE" val="n"/>
  <p:tag name="KSO_WM_UNIT_SUBTYPE" val="a"/>
  <p:tag name="KSO_WM_UNIT_PRESET_TEXT" val="单击添加目录标题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</p:tagLst>
</file>

<file path=ppt/tags/tag21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custom20230244_6*l_h_i*1_5_1"/>
  <p:tag name="KSO_WM_TEMPLATE_CATEGORY" val="custom"/>
  <p:tag name="KSO_WM_TEMPLATE_INDEX" val="20230244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471.95001220703125,&quot;left&quot;:320.0500122070313,&quot;top&quot;:34.34999389648438,&quot;width&quot;:593.3499755859375}"/>
  <p:tag name="KSO_WM_DIAGRAM_COLOR_TRICK" val="1"/>
  <p:tag name="KSO_WM_DIAGRAM_COLOR_TEXT_CAN_REMOVE" val="n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2"/>
  <p:tag name="KSO_WM_UNIT_ID" val="custom20230244_6*l_h_i*1_5_2"/>
  <p:tag name="KSO_WM_TEMPLATE_CATEGORY" val="custom"/>
  <p:tag name="KSO_WM_TEMPLATE_INDEX" val="20230244"/>
  <p:tag name="KSO_WM_UNIT_LAYERLEVEL" val="1_1_1"/>
  <p:tag name="KSO_WM_TAG_VERSION" val="3.0"/>
  <p:tag name="KSO_WM_BEAUTIFY_FLAG" val="#wm#"/>
  <p:tag name="KSO_WM_UNIT_FILL_FORE_SCHEMECOLOR_INDEX_1_BRIGHTNESS" val="0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9"/>
  <p:tag name="KSO_WM_UNIT_FILL_FORE_SCHEMECOLOR_INDEX_3_POS" val="1"/>
  <p:tag name="KSO_WM_UNIT_FILL_FORE_SCHEMECOLOR_INDEX_3_TRANS" val="0"/>
  <p:tag name="KSO_WM_UNIT_FILL_GRADIENT_TYPE" val="2"/>
  <p:tag name="KSO_WM_UNIT_FILL_GRADIENT_ANGLE" val="0"/>
  <p:tag name="KSO_WM_UNIT_FILL_GRADIENT_DIRECTION" val="12"/>
  <p:tag name="KSO_WM_UNIT_FILL_TYPE" val="3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4"/>
  <p:tag name="KSO_WM_UNIT_TEXT_FILL_TYPE" val="1"/>
  <p:tag name="KSO_WM_DIAGRAM_GROUP_CODE" val="l1-1"/>
  <p:tag name="KSO_WM_DIAGRAM_VERSION" val="3"/>
  <p:tag name="KSO_WM_DIAGRAM_MAX_ITEMCNT" val="8"/>
  <p:tag name="KSO_WM_DIAGRAM_MIN_ITEMCNT" val="2"/>
  <p:tag name="KSO_WM_DIAGRAM_VIRTUALLY_FRAME" val="{&quot;height&quot;:471.95001220703125,&quot;left&quot;:320.0500122070313,&quot;top&quot;:34.34999389648438,&quot;width&quot;:593.3499755859375}"/>
  <p:tag name="KSO_WM_DIAGRAM_COLOR_TRICK" val="1"/>
  <p:tag name="KSO_WM_DIAGRAM_COLOR_TEXT_CAN_REMOVE" val="n"/>
  <p:tag name="KSO_WM_DIAGRAM_COLOR_MATCH_VALUE" val="{&quot;shape&quot;:{&quot;fill&quot;:{&quot;gradient&quot;:[{&quot;brightness&quot;:0,&quot;colorType&quot;:1,&quot;foreColorIndex&quot;:5,&quot;pos&quot;:1,&quot;transparency&quot;:0},{&quot;brightness&quot;:0,&quot;colorType&quot;:1,&quot;foreColorIndex&quot;:6,&quot;pos&quot;:0.20000000298023224,&quot;transparency&quot;:0.349999994039535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5_1"/>
  <p:tag name="KSO_WM_TEMPLATE_CATEGORY" val="custom"/>
  <p:tag name="KSO_WM_TEMPLATE_INDEX" val="20230244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44_6*l_h_f*1_5_1"/>
  <p:tag name="KSO_WM_DIAGRAM_VERSION" val="3"/>
  <p:tag name="KSO_WM_DIAGRAM_MAX_ITEMCNT" val="8"/>
  <p:tag name="KSO_WM_DIAGRAM_MIN_ITEMCNT" val="2"/>
  <p:tag name="KSO_WM_DIAGRAM_VIRTUALLY_FRAME" val="{&quot;height&quot;:471.95001220703125,&quot;left&quot;:320.0500122070313,&quot;top&quot;:34.34999389648438,&quot;width&quot;:593.3499755859375}"/>
  <p:tag name="KSO_WM_DIAGRAM_COLOR_TRICK" val="1"/>
  <p:tag name="KSO_WM_DIAGRAM_COLOR_TEXT_CAN_REMOVE" val="n"/>
  <p:tag name="KSO_WM_UNIT_SUBTYPE" val="a"/>
  <p:tag name="KSO_WM_UNIT_PRESET_TEXT" val="单击添加目录标题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</p:tagLst>
</file>

<file path=ppt/tags/tag2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6_1"/>
  <p:tag name="KSO_WM_UNIT_ID" val="custom20230244_6*l_h_i*1_6_1"/>
  <p:tag name="KSO_WM_TEMPLATE_CATEGORY" val="custom"/>
  <p:tag name="KSO_WM_TEMPLATE_INDEX" val="20230244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471.95001220703125,&quot;left&quot;:320.0500122070313,&quot;top&quot;:34.34999389648438,&quot;width&quot;:593.3499755859375}"/>
  <p:tag name="KSO_WM_DIAGRAM_COLOR_TRICK" val="1"/>
  <p:tag name="KSO_WM_DIAGRAM_COLOR_TEXT_CAN_REMOVE" val="n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6_2"/>
  <p:tag name="KSO_WM_UNIT_ID" val="custom20230244_6*l_h_i*1_6_2"/>
  <p:tag name="KSO_WM_TEMPLATE_CATEGORY" val="custom"/>
  <p:tag name="KSO_WM_TEMPLATE_INDEX" val="20230244"/>
  <p:tag name="KSO_WM_UNIT_LAYERLEVEL" val="1_1_1"/>
  <p:tag name="KSO_WM_TAG_VERSION" val="3.0"/>
  <p:tag name="KSO_WM_BEAUTIFY_FLAG" val="#wm#"/>
  <p:tag name="KSO_WM_UNIT_FILL_FORE_SCHEMECOLOR_INDEX_1_BRIGHTNESS" val="0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9"/>
  <p:tag name="KSO_WM_UNIT_FILL_FORE_SCHEMECOLOR_INDEX_3_POS" val="1"/>
  <p:tag name="KSO_WM_UNIT_FILL_FORE_SCHEMECOLOR_INDEX_3_TRANS" val="0"/>
  <p:tag name="KSO_WM_UNIT_FILL_GRADIENT_TYPE" val="2"/>
  <p:tag name="KSO_WM_UNIT_FILL_GRADIENT_ANGLE" val="0"/>
  <p:tag name="KSO_WM_UNIT_FILL_GRADIENT_DIRECTION" val="12"/>
  <p:tag name="KSO_WM_UNIT_FILL_TYPE" val="3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4"/>
  <p:tag name="KSO_WM_UNIT_TEXT_FILL_TYPE" val="1"/>
  <p:tag name="KSO_WM_DIAGRAM_GROUP_CODE" val="l1-1"/>
  <p:tag name="KSO_WM_DIAGRAM_VERSION" val="3"/>
  <p:tag name="KSO_WM_DIAGRAM_MAX_ITEMCNT" val="8"/>
  <p:tag name="KSO_WM_DIAGRAM_MIN_ITEMCNT" val="2"/>
  <p:tag name="KSO_WM_DIAGRAM_VIRTUALLY_FRAME" val="{&quot;height&quot;:471.95001220703125,&quot;left&quot;:320.0500122070313,&quot;top&quot;:34.34999389648438,&quot;width&quot;:593.3499755859375}"/>
  <p:tag name="KSO_WM_DIAGRAM_COLOR_TRICK" val="1"/>
  <p:tag name="KSO_WM_DIAGRAM_COLOR_TEXT_CAN_REMOVE" val="n"/>
  <p:tag name="KSO_WM_DIAGRAM_COLOR_MATCH_VALUE" val="{&quot;shape&quot;:{&quot;fill&quot;:{&quot;gradient&quot;:[{&quot;brightness&quot;:0,&quot;colorType&quot;:1,&quot;foreColorIndex&quot;:5,&quot;pos&quot;:1,&quot;transparency&quot;:0},{&quot;brightness&quot;:0,&quot;colorType&quot;:1,&quot;foreColorIndex&quot;:6,&quot;pos&quot;:0.20000000298023224,&quot;transparency&quot;:0.349999994039535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2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6_1"/>
  <p:tag name="KSO_WM_TEMPLATE_CATEGORY" val="custom"/>
  <p:tag name="KSO_WM_TEMPLATE_INDEX" val="20230244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44_6*l_h_f*1_6_1"/>
  <p:tag name="KSO_WM_DIAGRAM_VERSION" val="3"/>
  <p:tag name="KSO_WM_DIAGRAM_MAX_ITEMCNT" val="8"/>
  <p:tag name="KSO_WM_DIAGRAM_MIN_ITEMCNT" val="2"/>
  <p:tag name="KSO_WM_DIAGRAM_VIRTUALLY_FRAME" val="{&quot;height&quot;:471.95001220703125,&quot;left&quot;:320.0500122070313,&quot;top&quot;:34.34999389648438,&quot;width&quot;:593.3499755859375}"/>
  <p:tag name="KSO_WM_DIAGRAM_COLOR_TRICK" val="1"/>
  <p:tag name="KSO_WM_DIAGRAM_COLOR_TEXT_CAN_REMOVE" val="n"/>
  <p:tag name="KSO_WM_UNIT_SUBTYPE" val="a"/>
  <p:tag name="KSO_WM_UNIT_PRESET_TEXT" val="单击添加目录标题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0244_6*i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23.xml><?xml version="1.0" encoding="utf-8"?>
<p:tagLst xmlns:p="http://schemas.openxmlformats.org/presentationml/2006/main">
  <p:tag name="KSO_WM_SLIDE_ID" val="custom20230244_6"/>
  <p:tag name="KSO_WM_TEMPLATE_SUBCATEGORY" val="29"/>
  <p:tag name="KSO_WM_TEMPLATE_MASTER_TYPE" val="0"/>
  <p:tag name="KSO_WM_TEMPLATE_COLOR_TYPE" val="0"/>
  <p:tag name="KSO_WM_SLIDE_TYPE" val="contents"/>
  <p:tag name="KSO_WM_SLIDE_SUBTYPE" val="diag"/>
  <p:tag name="KSO_WM_SLIDE_ITEM_CNT" val="6"/>
  <p:tag name="KSO_WM_SLIDE_INDEX" val="6"/>
  <p:tag name="KSO_WM_TAG_VERSION" val="3.0"/>
  <p:tag name="KSO_WM_BEAUTIFY_FLAG" val="#wm#"/>
  <p:tag name="KSO_WM_TEMPLATE_CATEGORY" val="custom"/>
  <p:tag name="KSO_WM_TEMPLATE_INDEX" val="20230244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THEME_ID" val="3302934"/>
  <p:tag name="KSO_WM_SLIDE_THEME_NAME" val="蓝色简约风主题"/>
</p:tagLst>
</file>

<file path=ppt/tags/tag224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44_9*e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</p:tagLst>
</file>

<file path=ppt/tags/tag2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44_9*a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226.xml><?xml version="1.0" encoding="utf-8"?>
<p:tagLst xmlns:p="http://schemas.openxmlformats.org/presentationml/2006/main">
  <p:tag name="KSO_WM_SLIDE_ID" val="custom20230244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244"/>
  <p:tag name="KSO_WM_SLIDE_LAYOUT" val="a_e"/>
  <p:tag name="KSO_WM_SLIDE_LAYOUT_CNT" val="1_1"/>
  <p:tag name="KSO_WM_TEMPLATE_THUMBS_INDEX" val="1、4、7、12、13、14、15、16、17、18、20、24、25、28、33、36、40、43、44"/>
  <p:tag name="KSO_WM_SLIDE_CONTENT_AREA" val="{&quot;left&quot;:&quot;29.6&quot;,&quot;top&quot;:&quot;87.4&quot;,&quot;width&quot;:&quot;425.55&quot;,&quot;height&quot;:&quot;348.8&quot;}"/>
</p:tagLst>
</file>

<file path=ppt/tags/tag227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28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29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  <p:tag name="KSO_WM_SLIDE_TYPE" val="text"/>
  <p:tag name="KSO_WM_SLIDE_ID" val="custom20230244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SLIDE_SUBTYPE" val="pureTxt"/>
  <p:tag name="KSO_WM_SLIDE_SIZE" val="863*466"/>
  <p:tag name="KSO_WM_SLIDE_POSITION" val="47*25"/>
  <p:tag name="KSO_WM_SLIDE_LAYOUT" val="a_f"/>
  <p:tag name="KSO_WM_SLIDE_LAYOUT_CNT" val="1_1"/>
  <p:tag name="KSO_WM_SPECIAL_SOURCE" val="bdnull"/>
  <p:tag name="KSO_WM_SLIDE_LAYOUT_NAME" val="标题和内容"/>
</p:tagLst>
</file>

<file path=ppt/tags/tag230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44_9*e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</p:tagLst>
</file>

<file path=ppt/tags/tag23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44_9*a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232.xml><?xml version="1.0" encoding="utf-8"?>
<p:tagLst xmlns:p="http://schemas.openxmlformats.org/presentationml/2006/main">
  <p:tag name="KSO_WM_SLIDE_ID" val="custom20230244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244"/>
  <p:tag name="KSO_WM_SLIDE_LAYOUT" val="a_e"/>
  <p:tag name="KSO_WM_SLIDE_LAYOUT_CNT" val="1_1"/>
  <p:tag name="KSO_WM_TEMPLATE_THUMBS_INDEX" val="1、4、7、12、13、14、15、16、17、18、20、24、25、28、33、36、40、43、44"/>
  <p:tag name="KSO_WM_SLIDE_CONTENT_AREA" val="{&quot;left&quot;:&quot;29.6&quot;,&quot;top&quot;:&quot;87.4&quot;,&quot;width&quot;:&quot;425.55&quot;,&quot;height&quot;:&quot;348.8&quot;}"/>
</p:tagLst>
</file>

<file path=ppt/tags/tag233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34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35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36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  <p:tag name="KSO_WM_SLIDE_TYPE" val="text"/>
  <p:tag name="KSO_WM_SLIDE_ID" val="custom20230244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SLIDE_SUBTYPE" val="pureTxt"/>
  <p:tag name="KSO_WM_SLIDE_SIZE" val="863*466"/>
  <p:tag name="KSO_WM_SLIDE_POSITION" val="47*25"/>
  <p:tag name="KSO_WM_SLIDE_LAYOUT" val="a_f"/>
  <p:tag name="KSO_WM_SLIDE_LAYOUT_CNT" val="1_1"/>
  <p:tag name="KSO_WM_SPECIAL_SOURCE" val="bdnull"/>
  <p:tag name="KSO_WM_SLIDE_LAYOUT_NAME" val="标题和内容"/>
</p:tagLst>
</file>

<file path=ppt/tags/tag237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38.xml><?xml version="1.0" encoding="utf-8"?>
<p:tagLst xmlns:p="http://schemas.openxmlformats.org/presentationml/2006/main">
  <p:tag name="TABLE_ENDDRAG_ORIGIN_RECT" val="468*616"/>
  <p:tag name="TABLE_ENDDRAG_RECT" val="339*106*468*616"/>
</p:tagLst>
</file>

<file path=ppt/tags/tag239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240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241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44_9*e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</p:tagLst>
</file>

<file path=ppt/tags/tag24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44_9*a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243.xml><?xml version="1.0" encoding="utf-8"?>
<p:tagLst xmlns:p="http://schemas.openxmlformats.org/presentationml/2006/main">
  <p:tag name="KSO_WM_SLIDE_ID" val="custom20230244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244"/>
  <p:tag name="KSO_WM_SLIDE_LAYOUT" val="a_e"/>
  <p:tag name="KSO_WM_SLIDE_LAYOUT_CNT" val="1_1"/>
  <p:tag name="KSO_WM_TEMPLATE_THUMBS_INDEX" val="1、4、7、12、13、14、15、16、17、18、20、24、25、28、33、36、40、43、44"/>
  <p:tag name="KSO_WM_SLIDE_CONTENT_AREA" val="{&quot;left&quot;:&quot;29.6&quot;,&quot;top&quot;:&quot;87.4&quot;,&quot;width&quot;:&quot;425.55&quot;,&quot;height&quot;:&quot;348.8&quot;}"/>
</p:tagLst>
</file>

<file path=ppt/tags/tag244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245.xml><?xml version="1.0" encoding="utf-8"?>
<p:tagLst xmlns:p="http://schemas.openxmlformats.org/presentationml/2006/main">
  <p:tag name="TABLE_ENDDRAG_ORIGIN_RECT" val="399*447"/>
  <p:tag name="TABLE_ENDDRAG_RECT" val="62*123*400*447"/>
</p:tagLst>
</file>

<file path=ppt/tags/tag246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247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44_9*e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</p:tagLst>
</file>

<file path=ppt/tags/tag24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44_9*a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249.xml><?xml version="1.0" encoding="utf-8"?>
<p:tagLst xmlns:p="http://schemas.openxmlformats.org/presentationml/2006/main">
  <p:tag name="KSO_WM_SLIDE_ID" val="custom20230244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244"/>
  <p:tag name="KSO_WM_SLIDE_LAYOUT" val="a_e"/>
  <p:tag name="KSO_WM_SLIDE_LAYOUT_CNT" val="1_1"/>
  <p:tag name="KSO_WM_TEMPLATE_THUMBS_INDEX" val="1、4、7、12、13、14、15、16、17、18、20、24、25、28、33、36、40、43、44"/>
  <p:tag name="KSO_WM_SLIDE_CONTENT_AREA" val="{&quot;left&quot;:&quot;29.6&quot;,&quot;top&quot;:&quot;87.4&quot;,&quot;width&quot;:&quot;425.55&quot;,&quot;height&quot;:&quot;348.8&quot;}"/>
</p:tagLst>
</file>

<file path=ppt/tags/tag250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51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  <p:tag name="KSO_WM_SLIDE_TYPE" val="text"/>
  <p:tag name="KSO_WM_SLIDE_ID" val="custom20230244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SLIDE_SUBTYPE" val="pureTxt"/>
  <p:tag name="KSO_WM_SLIDE_SIZE" val="863*466"/>
  <p:tag name="KSO_WM_SLIDE_POSITION" val="47*25"/>
  <p:tag name="KSO_WM_SLIDE_LAYOUT" val="a_f"/>
  <p:tag name="KSO_WM_SLIDE_LAYOUT_CNT" val="1_1"/>
  <p:tag name="KSO_WM_SPECIAL_SOURCE" val="bdnull"/>
  <p:tag name="KSO_WM_SLIDE_LAYOUT_NAME" val="标题和内容"/>
</p:tagLst>
</file>

<file path=ppt/tags/tag252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253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254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255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44_9*e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</p:tagLst>
</file>

<file path=ppt/tags/tag25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44_9*a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257.xml><?xml version="1.0" encoding="utf-8"?>
<p:tagLst xmlns:p="http://schemas.openxmlformats.org/presentationml/2006/main">
  <p:tag name="KSO_WM_SLIDE_ID" val="custom20230244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244"/>
  <p:tag name="KSO_WM_SLIDE_LAYOUT" val="a_e"/>
  <p:tag name="KSO_WM_SLIDE_LAYOUT_CNT" val="1_1"/>
  <p:tag name="KSO_WM_TEMPLATE_THUMBS_INDEX" val="1、4、7、12、13、14、15、16、17、18、20、24、25、28、33、36、40、43、44"/>
  <p:tag name="KSO_WM_SLIDE_CONTENT_AREA" val="{&quot;left&quot;:&quot;29.6&quot;,&quot;top&quot;:&quot;87.4&quot;,&quot;width&quot;:&quot;425.55&quot;,&quot;height&quot;:&quot;348.8&quot;}"/>
</p:tagLst>
</file>

<file path=ppt/tags/tag258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259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44_9*e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</p:tagLst>
</file>

<file path=ppt/tags/tag26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44_9*a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261.xml><?xml version="1.0" encoding="utf-8"?>
<p:tagLst xmlns:p="http://schemas.openxmlformats.org/presentationml/2006/main">
  <p:tag name="KSO_WM_SLIDE_ID" val="custom20230244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244"/>
  <p:tag name="KSO_WM_SLIDE_LAYOUT" val="a_e"/>
  <p:tag name="KSO_WM_SLIDE_LAYOUT_CNT" val="1_1"/>
  <p:tag name="KSO_WM_TEMPLATE_THUMBS_INDEX" val="1、4、7、12、13、14、15、16、17、18、20、24、25、28、33、36、40、43、44"/>
  <p:tag name="KSO_WM_SLIDE_CONTENT_AREA" val="{&quot;left&quot;:&quot;29.6&quot;,&quot;top&quot;:&quot;87.4&quot;,&quot;width&quot;:&quot;425.55&quot;,&quot;height&quot;:&quot;348.8&quot;}"/>
</p:tagLst>
</file>

<file path=ppt/tags/tag262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263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264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265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266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267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268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44_11*a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</p:tagLst>
</file>

<file path=ppt/tags/tag269.xml><?xml version="1.0" encoding="utf-8"?>
<p:tagLst xmlns:p="http://schemas.openxmlformats.org/presentationml/2006/main">
  <p:tag name="KSO_WM_SLIDE_ID" val="custom20230244_11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11"/>
  <p:tag name="KSO_WM_TAG_VERSION" val="3.0"/>
  <p:tag name="KSO_WM_BEAUTIFY_FLAG" val="#wm#"/>
  <p:tag name="KSO_WM_TEMPLATE_CATEGORY" val="custom"/>
  <p:tag name="KSO_WM_TEMPLATE_INDEX" val="20230244"/>
  <p:tag name="KSO_WM_SLIDE_LAYOUT" val="a_f"/>
  <p:tag name="KSO_WM_SLIDE_LAYOUT_CNT" val="1_1"/>
  <p:tag name="KSO_WM_TEMPLATE_THUMBS_INDEX" val="1、4、7、12、13、14、15、16、17、18、20、24、25、28、33、36、40、43、44"/>
  <p:tag name="KSO_WM_SLIDE_CONTENT_AREA" val="{&quot;left&quot;:&quot;340.55&quot;,&quot;top&quot;:&quot;121.5&quot;,&quot;width&quot;:&quot;600.15&quot;,&quot;height&quot;:&quot;297&quot;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蓝色简约主">
      <a:dk1>
        <a:srgbClr val="000000"/>
      </a:dk1>
      <a:lt1>
        <a:srgbClr val="FFFFFF"/>
      </a:lt1>
      <a:dk2>
        <a:srgbClr val="16468D"/>
      </a:dk2>
      <a:lt2>
        <a:srgbClr val="D2F0FB"/>
      </a:lt2>
      <a:accent1>
        <a:srgbClr val="018AFF"/>
      </a:accent1>
      <a:accent2>
        <a:srgbClr val="109BEE"/>
      </a:accent2>
      <a:accent3>
        <a:srgbClr val="16AADB"/>
      </a:accent3>
      <a:accent4>
        <a:srgbClr val="1BB8C7"/>
      </a:accent4>
      <a:accent5>
        <a:srgbClr val="1FC5B1"/>
      </a:accent5>
      <a:accent6>
        <a:srgbClr val="23D197"/>
      </a:accent6>
      <a:hlink>
        <a:srgbClr val="F128E5"/>
      </a:hlink>
      <a:folHlink>
        <a:srgbClr val="12E863"/>
      </a:folHlink>
    </a:clrScheme>
    <a:fontScheme name="自定义 16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">
      <a:dk1>
        <a:srgbClr val="000000"/>
      </a:dk1>
      <a:lt1>
        <a:srgbClr val="FFFFFF"/>
      </a:lt1>
      <a:dk2>
        <a:srgbClr val="16468D"/>
      </a:dk2>
      <a:lt2>
        <a:srgbClr val="D2F0FB"/>
      </a:lt2>
      <a:accent1>
        <a:srgbClr val="018AFF"/>
      </a:accent1>
      <a:accent2>
        <a:srgbClr val="109BEE"/>
      </a:accent2>
      <a:accent3>
        <a:srgbClr val="16AADB"/>
      </a:accent3>
      <a:accent4>
        <a:srgbClr val="1BB8C7"/>
      </a:accent4>
      <a:accent5>
        <a:srgbClr val="1FC5B1"/>
      </a:accent5>
      <a:accent6>
        <a:srgbClr val="23D197"/>
      </a:accent6>
      <a:hlink>
        <a:srgbClr val="F128E5"/>
      </a:hlink>
      <a:folHlink>
        <a:srgbClr val="12E863"/>
      </a:folHlink>
    </a:clrScheme>
    <a:fontScheme name="自定义 16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3138</Words>
  <Application>WPS 文字</Application>
  <PresentationFormat>宽屏</PresentationFormat>
  <Paragraphs>539</Paragraphs>
  <Slides>26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26</vt:i4>
      </vt:variant>
    </vt:vector>
  </HeadingPairs>
  <TitlesOfParts>
    <vt:vector size="50" baseType="lpstr">
      <vt:lpstr>Arial</vt:lpstr>
      <vt:lpstr>宋体</vt:lpstr>
      <vt:lpstr>Wingdings</vt:lpstr>
      <vt:lpstr>Wingdings</vt:lpstr>
      <vt:lpstr>MiSans Normal</vt:lpstr>
      <vt:lpstr>微软雅黑</vt:lpstr>
      <vt:lpstr>汉仪旗黑</vt:lpstr>
      <vt:lpstr>新宋体</vt:lpstr>
      <vt:lpstr>方正书宋_GBK</vt:lpstr>
      <vt:lpstr>仿宋</vt:lpstr>
      <vt:lpstr>方正仿宋_GBK</vt:lpstr>
      <vt:lpstr>MiSans Heavy</vt:lpstr>
      <vt:lpstr>宋体</vt:lpstr>
      <vt:lpstr>Arial Unicode MS</vt:lpstr>
      <vt:lpstr>苹方-简</vt:lpstr>
      <vt:lpstr>Arial</vt:lpstr>
      <vt:lpstr>HarmonyOS Sans</vt:lpstr>
      <vt:lpstr>Thonburi</vt:lpstr>
      <vt:lpstr>宋体</vt:lpstr>
      <vt:lpstr>汉仪书宋二KW</vt:lpstr>
      <vt:lpstr>HarmonyOS Sans</vt:lpstr>
      <vt:lpstr>WPS</vt:lpstr>
      <vt:lpstr>1_Office 主题</vt:lpstr>
      <vt:lpstr>2_Office 主题</vt:lpstr>
      <vt:lpstr>网上综合书店销售数据库</vt:lpstr>
      <vt:lpstr>目录</vt:lpstr>
      <vt:lpstr>题目介绍</vt:lpstr>
      <vt:lpstr>题目介绍</vt:lpstr>
      <vt:lpstr>需求分析</vt:lpstr>
      <vt:lpstr>需求分析</vt:lpstr>
      <vt:lpstr>需求分析</vt:lpstr>
      <vt:lpstr>需求分析</vt:lpstr>
      <vt:lpstr>数据库设计</vt:lpstr>
      <vt:lpstr>数据库设计</vt:lpstr>
      <vt:lpstr>数据库设计</vt:lpstr>
      <vt:lpstr>模型图</vt:lpstr>
      <vt:lpstr>模型图</vt:lpstr>
      <vt:lpstr>模型图</vt:lpstr>
      <vt:lpstr>模型图</vt:lpstr>
      <vt:lpstr>模型图</vt:lpstr>
      <vt:lpstr>功能设计</vt:lpstr>
      <vt:lpstr>功能设计</vt:lpstr>
      <vt:lpstr>模块划分</vt:lpstr>
      <vt:lpstr>模块划分</vt:lpstr>
      <vt:lpstr>模块划分</vt:lpstr>
      <vt:lpstr>模块划分</vt:lpstr>
      <vt:lpstr>模块划分</vt:lpstr>
      <vt:lpstr>模块划分</vt:lpstr>
      <vt:lpstr>模块划分</vt:lpstr>
      <vt:lpstr>THANK YOU！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吴雨泽</cp:lastModifiedBy>
  <cp:revision>172</cp:revision>
  <dcterms:created xsi:type="dcterms:W3CDTF">2026-05-05T10:44:59Z</dcterms:created>
  <dcterms:modified xsi:type="dcterms:W3CDTF">2026-05-05T10:44:59Z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2052-7.2.2.8955</vt:lpwstr>
  </property>
  <property fmtid="{D5CDD505-2E9C-101B-9397-08002B2CF9AE}" pid="3" name="ICV">
    <vt:lpwstr>A964AAEC0ADDEA10F199EC696339E445_41</vt:lpwstr>
  </property>
</Properties>
</file>